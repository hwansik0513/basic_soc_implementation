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7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1" r:id="rId14"/>
    <p:sldId id="273" r:id="rId15"/>
    <p:sldId id="272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30" d="100"/>
          <a:sy n="130" d="100"/>
        </p:scale>
        <p:origin x="78" y="954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slide" Target="slides/slide1.xml"  /><Relationship Id="rId20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B6A0CD-5CA7-A3B5-33C7-7C2BEC9AB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2E1B4EF-A24A-9B12-7F63-5373CD38B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C85848-BB5D-1E26-9FEB-1BFEDCBBF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4F3F42-C7C1-19B9-3EC5-4548971C5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5563C2-29E7-871B-39ED-E58FD48AB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4943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F4DAFB-9DF6-F5FC-510C-95C7F6C40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75846B-5BA1-85BC-7F23-83B49A35F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1AE738-C23C-58CD-3A2C-6EA53F651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06A592-5593-EE84-2380-E47ACFBD2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D18716-4119-A8D5-35BD-15AA0DD47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642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45995E-C00D-CCB4-BB3C-E5067C66C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18AB56-BFB5-6F3A-06BF-428546408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21A192-2913-5C39-0E48-C17F7369D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204FD7-DFA6-D419-7108-476CD2F67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FCAC8C-CFFC-0D7A-56B1-DB1DF70AF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473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AEE73-8C33-AB78-6A42-0397B82FC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B7E6AE-4A1B-98EE-733C-60772F551C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70CE4D-8169-7062-B674-E497E2EDB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C08690-3CFB-7FF6-A03E-27766C8E3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0FC1E2-F933-97C4-F3F4-354CFAB9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792DEE-26F0-CE83-D4A1-2612D3F40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687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9D9EB-C060-F372-DD62-D5480104F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D34F70-97D4-D585-A09B-8FD81227F1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F9B239-9B15-C1C7-86DC-048DFCF15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291072-E2DB-9F13-D364-B5B35E774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8785B8-1055-0EC4-D98F-871650C49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3CF1AA-050B-D3DF-3D68-8DE1570B8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0DC7680-C796-1865-AB6C-798F6814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FC4550-C9CC-B9DD-2D6B-F4A6D763E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99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9D43D-6F82-B87B-DBA3-9F5A93B45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30C067-35F5-2BD3-AEE3-F075F9B13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E9E80D0-6A3D-48D4-8C44-C260E4B1B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774B7D-A044-1774-4C22-188796E57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183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FF1A093-996C-FDAE-C878-1947669B9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ED7BF51-4DCB-24A4-5311-943147CB4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55855A-8CDB-FE9F-43C5-A6163F45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923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677C2-6D9F-7971-3570-1A138077D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0E63C1-CD7C-101A-C8BD-9FB84916F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43C29F-7E7E-48A7-AF4D-5A37BF4E20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84AE87-E6EA-2288-D039-04CE505D3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59CAC3-78C6-DC97-443A-2F9FC8481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2BB6AB-4CE2-FFDB-0B98-0E3525387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481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1F6CD-5B35-C460-20B5-6946C2382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727700F-4C4A-7840-14C6-4130D2AF3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F6877E-B751-0EBD-0972-C832AE43B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C3A81D-720A-A703-C82B-1367D26DE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B134E8-DE35-C481-F97C-80B2B17A0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20886B-99F2-F6C9-371A-812DD3E05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756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84E18-CC22-6F39-EB0C-3D39E9B9A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70E1C7-478C-BDE4-DA50-ADFA2F519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A91C96-7A7E-4D55-FA69-A03C6C4AE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2DAA69-8C50-62B1-80EF-AA26A3DD1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9AEBAE-506C-6622-23FB-BDC293047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938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C36FAD4-3772-2034-4FDD-A21C392996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297C35-40A3-F02B-A950-2B73DF905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B3F8FB-E482-6DF3-4652-698F3989E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062718-70B8-5A77-E3CD-8D768841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DEB04E-AD7B-FDB8-E5E1-FE1ACE0B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23090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37CF08A-558C-926E-713A-216F70A4F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CFC52F-8CE4-9204-18B1-968D6C6B0F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14F156-5918-2B80-EB90-29CF721A0E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85DA7-9DE2-4C38-8347-444CEECF7D53}" type="datetimeFigureOut">
              <a:rPr lang="ko-KR" altLang="en-US" smtClean="0"/>
              <a:t>2026-08-17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9B4501-E3BD-71F2-B93F-41FCA53F3A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F47BE6-15F3-6B43-86DB-6DABF0B2A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2C048-0AA2-4EAA-A79D-E988724D11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110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3.png"  /><Relationship Id="rId3" Type="http://schemas.openxmlformats.org/officeDocument/2006/relationships/image" Target="../media/image4.png"  /><Relationship Id="rId4" Type="http://schemas.openxmlformats.org/officeDocument/2006/relationships/image" Target="../media/image5.png"  /><Relationship Id="rId5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Relationship Id="rId4" Type="http://schemas.openxmlformats.org/officeDocument/2006/relationships/image" Target="../media/image9.jpe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Relationship Id="rId5" Type="http://schemas.openxmlformats.org/officeDocument/2006/relationships/image" Target="../media/image14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Relationship Id="rId3" Type="http://schemas.openxmlformats.org/officeDocument/2006/relationships/image" Target="../media/image16.jpeg"  /><Relationship Id="rId4" Type="http://schemas.openxmlformats.org/officeDocument/2006/relationships/image" Target="../media/image14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8.jpe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9.png"  /><Relationship Id="rId3" Type="http://schemas.openxmlformats.org/officeDocument/2006/relationships/image" Target="../media/image20.png"  /><Relationship Id="rId4" Type="http://schemas.openxmlformats.org/officeDocument/2006/relationships/image" Target="../media/image21.jpe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Relationship Id="rId3" Type="http://schemas.openxmlformats.org/officeDocument/2006/relationships/image" Target="../media/image23.png"  /><Relationship Id="rId4" Type="http://schemas.openxmlformats.org/officeDocument/2006/relationships/image" Target="../media/image2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57660-4929-7F40-3D99-3CEDE5D4F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방학 과제 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04C04B5-7649-3003-26AA-4106C5418D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반도체 </a:t>
            </a:r>
            <a:r>
              <a:rPr lang="ko-KR" altLang="en-US" dirty="0" err="1"/>
              <a:t>설계과</a:t>
            </a:r>
            <a:r>
              <a:rPr lang="ko-KR" altLang="en-US" dirty="0"/>
              <a:t> 하이테크 김환식</a:t>
            </a:r>
          </a:p>
        </p:txBody>
      </p:sp>
    </p:spTree>
    <p:extLst>
      <p:ext uri="{BB962C8B-B14F-4D97-AF65-F5344CB8AC3E}">
        <p14:creationId xmlns:p14="http://schemas.microsoft.com/office/powerpoint/2010/main" val="2934774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7369E3-91BF-AD81-516F-B66EF797C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      Study plan &amp; </a:t>
            </a:r>
            <a:r>
              <a:rPr lang="ko-KR" altLang="en-US" dirty="0"/>
              <a:t>이번</a:t>
            </a:r>
            <a:r>
              <a:rPr lang="en-US" altLang="ko-KR" dirty="0"/>
              <a:t> </a:t>
            </a:r>
            <a:r>
              <a:rPr lang="ko-KR" altLang="en-US" dirty="0"/>
              <a:t>학습 범위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F6D937-4932-0280-FE07-1D3FFCCA7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ko-KR" b="1" dirty="0" err="1"/>
              <a:t>Hardware</a:t>
            </a:r>
            <a:endParaRPr lang="en-US" altLang="ko-KR" b="1" dirty="0"/>
          </a:p>
          <a:p>
            <a:pPr marL="0" indent="0">
              <a:buNone/>
            </a:pPr>
            <a:endParaRPr lang="ko-KR" altLang="ko-KR" b="1" dirty="0"/>
          </a:p>
          <a:p>
            <a:pPr marL="0" lvl="0" indent="0">
              <a:buNone/>
            </a:pPr>
            <a:r>
              <a:rPr lang="en-US" altLang="ko-KR" sz="2000" dirty="0"/>
              <a:t>1. </a:t>
            </a:r>
            <a:r>
              <a:rPr lang="ko-KR" altLang="ko-KR" sz="2000" dirty="0"/>
              <a:t>Digital </a:t>
            </a:r>
            <a:r>
              <a:rPr lang="ko-KR" altLang="ko-KR" sz="2000" dirty="0" err="1"/>
              <a:t>Logic</a:t>
            </a:r>
            <a:r>
              <a:rPr lang="ko-KR" altLang="ko-KR" sz="2000" dirty="0"/>
              <a:t> Circuit + HDL + Digital System </a:t>
            </a:r>
            <a:r>
              <a:rPr lang="en-US" altLang="ko-KR" sz="2000" b="1" dirty="0"/>
              <a:t>&lt;- </a:t>
            </a:r>
            <a:r>
              <a:rPr lang="ko-KR" altLang="en-US" sz="2000" b="1" dirty="0"/>
              <a:t>이 부분 학습</a:t>
            </a:r>
            <a:endParaRPr lang="ko-KR" altLang="ko-KR" sz="2000" b="1" dirty="0"/>
          </a:p>
          <a:p>
            <a:pPr marL="0" lvl="0" indent="0">
              <a:buNone/>
            </a:pPr>
            <a:r>
              <a:rPr lang="en-US" altLang="ko-KR" sz="2000" dirty="0"/>
              <a:t>2. </a:t>
            </a:r>
            <a:r>
              <a:rPr lang="ko-KR" altLang="ko-KR" sz="2000" dirty="0" err="1"/>
              <a:t>Signal</a:t>
            </a:r>
            <a:r>
              <a:rPr lang="ko-KR" altLang="ko-KR" sz="2000" dirty="0"/>
              <a:t> Processing </a:t>
            </a:r>
          </a:p>
          <a:p>
            <a:pPr marL="0" lvl="0" indent="0">
              <a:buNone/>
            </a:pPr>
            <a:r>
              <a:rPr lang="en-US" altLang="ko-KR" sz="2000" dirty="0"/>
              <a:t>3. </a:t>
            </a:r>
            <a:r>
              <a:rPr lang="ko-KR" altLang="ko-KR" sz="2000" dirty="0"/>
              <a:t>Electronic Circuit </a:t>
            </a:r>
          </a:p>
          <a:p>
            <a:pPr marL="0" lvl="0" indent="0">
              <a:buNone/>
            </a:pPr>
            <a:r>
              <a:rPr lang="en-US" altLang="ko-KR" sz="2000" dirty="0"/>
              <a:t>4. </a:t>
            </a:r>
            <a:r>
              <a:rPr lang="ko-KR" altLang="ko-KR" sz="2000" dirty="0" err="1"/>
              <a:t>Electro</a:t>
            </a:r>
            <a:r>
              <a:rPr lang="ko-KR" altLang="ko-KR" sz="2000" dirty="0"/>
              <a:t> </a:t>
            </a:r>
            <a:r>
              <a:rPr lang="ko-KR" altLang="ko-KR" sz="2000" dirty="0" err="1"/>
              <a:t>Magnetic</a:t>
            </a:r>
            <a:r>
              <a:rPr lang="ko-KR" altLang="ko-KR" sz="2000" dirty="0"/>
              <a:t> </a:t>
            </a:r>
            <a:endParaRPr lang="en-US" altLang="ko-KR" sz="2000" dirty="0"/>
          </a:p>
          <a:p>
            <a:pPr marL="0" lvl="0" indent="0">
              <a:buNone/>
            </a:pPr>
            <a:endParaRPr lang="ko-KR" altLang="ko-KR" sz="2000" dirty="0"/>
          </a:p>
          <a:p>
            <a:pPr marL="0" indent="0">
              <a:buNone/>
            </a:pPr>
            <a:r>
              <a:rPr lang="ko-KR" altLang="ko-KR" b="1" dirty="0" err="1"/>
              <a:t>Software</a:t>
            </a:r>
            <a:endParaRPr lang="en-US" altLang="ko-KR" b="1" dirty="0"/>
          </a:p>
          <a:p>
            <a:pPr marL="0" indent="0">
              <a:buNone/>
            </a:pPr>
            <a:endParaRPr lang="ko-KR" altLang="ko-KR" b="1" dirty="0"/>
          </a:p>
          <a:p>
            <a:pPr marL="0" lvl="0" indent="0">
              <a:buNone/>
            </a:pPr>
            <a:r>
              <a:rPr lang="en-US" altLang="ko-KR" sz="2000" dirty="0"/>
              <a:t>1. </a:t>
            </a:r>
            <a:r>
              <a:rPr lang="ko-KR" altLang="ko-KR" sz="2000" dirty="0"/>
              <a:t>C 언어 </a:t>
            </a:r>
          </a:p>
          <a:p>
            <a:pPr marL="0" lvl="0" indent="0">
              <a:buNone/>
            </a:pPr>
            <a:r>
              <a:rPr lang="en-US" altLang="ko-KR" sz="2000" dirty="0"/>
              <a:t>2. </a:t>
            </a:r>
            <a:r>
              <a:rPr lang="ko-KR" altLang="ko-KR" sz="2000" dirty="0" err="1"/>
              <a:t>Linux</a:t>
            </a:r>
            <a:r>
              <a:rPr lang="ko-KR" altLang="ko-KR" sz="2000" dirty="0"/>
              <a:t> → GCC (</a:t>
            </a:r>
            <a:r>
              <a:rPr lang="ko-KR" altLang="ko-KR" sz="2000" dirty="0" err="1"/>
              <a:t>Compile</a:t>
            </a:r>
            <a:r>
              <a:rPr lang="ko-KR" altLang="ko-KR" sz="2000" dirty="0"/>
              <a:t>) → </a:t>
            </a:r>
            <a:r>
              <a:rPr lang="ko-KR" altLang="ko-KR" sz="2000" dirty="0" err="1"/>
              <a:t>Firmware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Programming</a:t>
            </a:r>
            <a:endParaRPr lang="ko-KR" altLang="ko-KR" sz="2000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275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89D3D-2FB2-2FFB-6238-845F22DB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조합 논리 </a:t>
            </a:r>
            <a:r>
              <a:rPr lang="en-US" altLang="ko-KR" dirty="0"/>
              <a:t>vs </a:t>
            </a:r>
            <a:r>
              <a:rPr lang="ko-KR" altLang="en-US" dirty="0"/>
              <a:t>순차논리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297E7B5-375F-64B2-C6BD-70EA65D82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690688"/>
            <a:ext cx="5257800" cy="29436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1037B5F-12EB-E0C5-74B5-50DA7387B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236" y="1690688"/>
            <a:ext cx="3896269" cy="29436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8E80BF-2713-43F6-7A45-5426D26A71F1}"/>
              </a:ext>
            </a:extLst>
          </p:cNvPr>
          <p:cNvSpPr txBox="1"/>
          <p:nvPr/>
        </p:nvSpPr>
        <p:spPr>
          <a:xfrm>
            <a:off x="838200" y="4797980"/>
            <a:ext cx="1007038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핵심원리</a:t>
            </a:r>
            <a:endParaRPr lang="en-US" altLang="ko-KR" sz="2000" b="1" dirty="0"/>
          </a:p>
          <a:p>
            <a:endParaRPr lang="en-US" altLang="ko-KR" sz="2000" b="1" dirty="0"/>
          </a:p>
          <a:p>
            <a:r>
              <a:rPr lang="ko-KR" altLang="en-US" dirty="0"/>
              <a:t>조합논리</a:t>
            </a:r>
            <a:r>
              <a:rPr lang="en-US" altLang="ko-KR" dirty="0"/>
              <a:t>: </a:t>
            </a:r>
            <a:r>
              <a:rPr lang="ko-KR" altLang="en-US" dirty="0"/>
              <a:t>출력은 현재 입력의 조합에 의해서만 결정 </a:t>
            </a:r>
            <a:r>
              <a:rPr lang="en-US" altLang="ko-KR" dirty="0"/>
              <a:t>, </a:t>
            </a:r>
            <a:r>
              <a:rPr lang="ko-KR" altLang="en-US" dirty="0"/>
              <a:t>이전 상태를 기억하지 않는다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순차논리</a:t>
            </a:r>
            <a:r>
              <a:rPr lang="en-US" altLang="ko-KR" dirty="0"/>
              <a:t>: </a:t>
            </a:r>
            <a:r>
              <a:rPr lang="ko-KR" altLang="en-US" dirty="0"/>
              <a:t>출력은 현재 입력뿐 아니라 저장된 이전의 상태의 영향을 받고 상태를 기억할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3773868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ko-KR" altLang="en-US"/>
              <a:t>조합 논리 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종류 </a:t>
            </a:r>
            <a:r>
              <a:rPr lang="en-US" altLang="ko-KR"/>
              <a:t>: </a:t>
            </a:r>
            <a:r>
              <a:rPr lang="ko-KR" altLang="ko-KR"/>
              <a:t>Adder</a:t>
            </a:r>
            <a:r>
              <a:rPr lang="en-US" altLang="ko-KR"/>
              <a:t>(</a:t>
            </a:r>
            <a:r>
              <a:rPr lang="ko-KR" altLang="en-US"/>
              <a:t>가산기</a:t>
            </a:r>
            <a:r>
              <a:rPr lang="en-US" altLang="ko-KR"/>
              <a:t>)</a:t>
            </a:r>
            <a:r>
              <a:rPr lang="ko-KR" altLang="ko-KR"/>
              <a:t>, Subtractor</a:t>
            </a:r>
            <a:r>
              <a:rPr lang="en-US" altLang="ko-KR"/>
              <a:t>(</a:t>
            </a:r>
            <a:r>
              <a:rPr lang="ko-KR" altLang="en-US"/>
              <a:t>감산기</a:t>
            </a:r>
            <a:r>
              <a:rPr lang="en-US" altLang="ko-KR"/>
              <a:t>)</a:t>
            </a:r>
            <a:r>
              <a:rPr lang="ko-KR" altLang="ko-KR"/>
              <a:t>, Comparator</a:t>
            </a:r>
            <a:r>
              <a:rPr lang="en-US" altLang="ko-KR"/>
              <a:t>(</a:t>
            </a:r>
            <a:r>
              <a:rPr lang="ko-KR" altLang="en-US"/>
              <a:t>비교기</a:t>
            </a:r>
            <a:r>
              <a:rPr lang="en-US" altLang="ko-KR"/>
              <a:t>)</a:t>
            </a:r>
            <a:r>
              <a:rPr lang="ko-KR" altLang="ko-KR"/>
              <a:t>, Multiplexer, Decoder, Encoder</a:t>
            </a:r>
            <a:r>
              <a:rPr lang="en-US" altLang="ko-KR"/>
              <a:t> </a:t>
            </a:r>
            <a:r>
              <a:rPr lang="ko-KR" altLang="en-US"/>
              <a:t>등등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55515" y="2833789"/>
            <a:ext cx="2525100" cy="301032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285997" y="2801935"/>
            <a:ext cx="1810003" cy="303573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236363" y="2801935"/>
            <a:ext cx="1861729" cy="303573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238455" y="2801935"/>
            <a:ext cx="2010056" cy="30357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1ADFA8-358D-3D88-1A38-E886E6B69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MUX 2x1 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E2E1FD6-F6CB-20FB-FF61-1691C9495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0433"/>
            <a:ext cx="2381582" cy="40087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B08F54C-B8DD-DF23-6D02-732928C11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806" y="1880433"/>
            <a:ext cx="1390844" cy="4008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FCD475-2523-8893-DBA2-B95CBECB3437}"/>
              </a:ext>
            </a:extLst>
          </p:cNvPr>
          <p:cNvSpPr txBox="1"/>
          <p:nvPr/>
        </p:nvSpPr>
        <p:spPr>
          <a:xfrm>
            <a:off x="1545772" y="6078916"/>
            <a:ext cx="297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                              </a:t>
            </a:r>
            <a:r>
              <a:rPr lang="en-US" altLang="ko-KR" dirty="0"/>
              <a:t>TB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CCF6DC-0FA0-D676-86DC-73B84CB0FE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857" y="1880433"/>
            <a:ext cx="5910943" cy="20384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2933A62-3B45-286B-541C-51C1E78FB22A}"/>
              </a:ext>
            </a:extLst>
          </p:cNvPr>
          <p:cNvSpPr txBox="1"/>
          <p:nvPr/>
        </p:nvSpPr>
        <p:spPr>
          <a:xfrm>
            <a:off x="5693229" y="4474029"/>
            <a:ext cx="38827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assign </a:t>
            </a:r>
            <a:r>
              <a:rPr lang="en-US" altLang="ko-KR" dirty="0" err="1"/>
              <a:t>o_y</a:t>
            </a:r>
            <a:r>
              <a:rPr lang="en-US" altLang="ko-KR" dirty="0"/>
              <a:t> = (</a:t>
            </a:r>
            <a:r>
              <a:rPr lang="en-US" altLang="ko-KR" dirty="0" err="1"/>
              <a:t>i_sel</a:t>
            </a:r>
            <a:r>
              <a:rPr lang="en-US" altLang="ko-KR" dirty="0"/>
              <a:t>) ? </a:t>
            </a:r>
            <a:r>
              <a:rPr lang="en-US" altLang="ko-KR" dirty="0" err="1"/>
              <a:t>i_b</a:t>
            </a:r>
            <a:r>
              <a:rPr lang="en-US" altLang="ko-KR" dirty="0"/>
              <a:t> : </a:t>
            </a:r>
            <a:r>
              <a:rPr lang="en-US" altLang="ko-KR" dirty="0" err="1"/>
              <a:t>i_a</a:t>
            </a:r>
            <a:r>
              <a:rPr lang="en-US" altLang="ko-KR" dirty="0"/>
              <a:t>;</a:t>
            </a:r>
          </a:p>
          <a:p>
            <a:endParaRPr lang="en-US" altLang="ko-KR" dirty="0"/>
          </a:p>
          <a:p>
            <a:r>
              <a:rPr lang="ko-KR" altLang="en-US" sz="1200" b="1" dirty="0"/>
              <a:t>논리회로  </a:t>
            </a:r>
            <a:r>
              <a:rPr lang="ko-KR" altLang="en-US" sz="1200" dirty="0"/>
              <a:t>                </a:t>
            </a:r>
            <a:r>
              <a:rPr lang="en-US" altLang="ko-KR" sz="1200" b="1" dirty="0"/>
              <a:t>Verilog</a:t>
            </a:r>
          </a:p>
          <a:p>
            <a:r>
              <a:rPr lang="en-US" altLang="ko-KR" sz="1200" dirty="0"/>
              <a:t>Select = 0 -&gt; A         </a:t>
            </a:r>
          </a:p>
          <a:p>
            <a:r>
              <a:rPr lang="en-US" altLang="ko-KR" sz="1200" dirty="0"/>
              <a:t>                              assign </a:t>
            </a:r>
            <a:r>
              <a:rPr lang="en-US" altLang="ko-KR" sz="1200" dirty="0" err="1"/>
              <a:t>o_y</a:t>
            </a:r>
            <a:r>
              <a:rPr lang="en-US" altLang="ko-KR" sz="1200" dirty="0"/>
              <a:t> = (</a:t>
            </a:r>
            <a:r>
              <a:rPr lang="en-US" altLang="ko-KR" sz="1200" dirty="0" err="1"/>
              <a:t>i_sel</a:t>
            </a:r>
            <a:r>
              <a:rPr lang="en-US" altLang="ko-KR" sz="1200" dirty="0"/>
              <a:t>) ? </a:t>
            </a:r>
            <a:r>
              <a:rPr lang="en-US" altLang="ko-KR" sz="1200" dirty="0" err="1"/>
              <a:t>i_b</a:t>
            </a:r>
            <a:r>
              <a:rPr lang="en-US" altLang="ko-KR" sz="1200" dirty="0"/>
              <a:t> : </a:t>
            </a:r>
            <a:r>
              <a:rPr lang="en-US" altLang="ko-KR" sz="1200" dirty="0" err="1"/>
              <a:t>i_a</a:t>
            </a:r>
            <a:r>
              <a:rPr lang="en-US" altLang="ko-KR" sz="1200" dirty="0"/>
              <a:t>;</a:t>
            </a:r>
          </a:p>
          <a:p>
            <a:r>
              <a:rPr lang="en-US" altLang="ko-KR" sz="1200" dirty="0"/>
              <a:t>Select = 1 -&gt; B</a:t>
            </a:r>
          </a:p>
        </p:txBody>
      </p:sp>
    </p:spTree>
    <p:extLst>
      <p:ext uri="{BB962C8B-B14F-4D97-AF65-F5344CB8AC3E}">
        <p14:creationId xmlns:p14="http://schemas.microsoft.com/office/powerpoint/2010/main" val="1516423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858288-12A4-EE20-8D97-716C48F76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MUX_2x1</a:t>
            </a:r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10943A6E-C784-A1D4-98FB-452A5AB0E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ko-KR" altLang="ko-KR" dirty="0" err="1"/>
              <a:t>Select</a:t>
            </a:r>
            <a:r>
              <a:rPr lang="ko-KR" altLang="ko-KR" dirty="0"/>
              <a:t> 신호가 0인 구간에서는 출력 </a:t>
            </a:r>
            <a:r>
              <a:rPr lang="ko-KR" altLang="ko-KR" dirty="0" err="1"/>
              <a:t>o_y가</a:t>
            </a:r>
            <a:r>
              <a:rPr lang="ko-KR" altLang="ko-KR" dirty="0"/>
              <a:t> 입력 </a:t>
            </a:r>
            <a:r>
              <a:rPr lang="ko-KR" altLang="ko-KR" dirty="0" err="1"/>
              <a:t>i_a를</a:t>
            </a:r>
            <a:r>
              <a:rPr lang="ko-KR" altLang="ko-KR" dirty="0"/>
              <a:t> 따라가고, </a:t>
            </a:r>
            <a:r>
              <a:rPr lang="ko-KR" altLang="ko-KR" dirty="0" err="1"/>
              <a:t>Select</a:t>
            </a:r>
            <a:r>
              <a:rPr lang="ko-KR" altLang="ko-KR" dirty="0"/>
              <a:t> 신호가 1로 변경된 이후에는 출력 </a:t>
            </a:r>
            <a:r>
              <a:rPr lang="ko-KR" altLang="ko-KR" dirty="0" err="1"/>
              <a:t>o_y가</a:t>
            </a:r>
            <a:r>
              <a:rPr lang="ko-KR" altLang="ko-KR" dirty="0"/>
              <a:t> 입력 </a:t>
            </a:r>
            <a:r>
              <a:rPr lang="ko-KR" altLang="ko-KR" dirty="0" err="1"/>
              <a:t>i_b를</a:t>
            </a:r>
            <a:r>
              <a:rPr lang="ko-KR" altLang="ko-KR" dirty="0"/>
              <a:t> 따라가는 것을 확인</a:t>
            </a:r>
            <a:endParaRPr lang="en-US" altLang="ko-KR" dirty="0"/>
          </a:p>
          <a:p>
            <a:r>
              <a:rPr lang="ko-KR" altLang="ko-KR" dirty="0"/>
              <a:t>이를 통해 </a:t>
            </a:r>
            <a:r>
              <a:rPr lang="ko-KR" altLang="ko-KR" dirty="0" err="1"/>
              <a:t>Select</a:t>
            </a:r>
            <a:r>
              <a:rPr lang="ko-KR" altLang="ko-KR" dirty="0"/>
              <a:t> 신호에 따라 하나의 입력이 선택되어 출력되는 </a:t>
            </a:r>
            <a:r>
              <a:rPr lang="ko-KR" altLang="ko-KR" dirty="0" err="1"/>
              <a:t>MUX의</a:t>
            </a:r>
            <a:r>
              <a:rPr lang="ko-KR" altLang="ko-KR" dirty="0"/>
              <a:t> 동작을 검증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7D0E7F9-0DD1-1D2A-4F16-7B808F6A5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3738012"/>
            <a:ext cx="10003971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90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D464E3-DFB6-CD54-4C0C-6EEEC2879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순차논리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CE9DA5-4C59-C7E1-A18F-091D7B8D9B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종류 </a:t>
            </a:r>
            <a:r>
              <a:rPr lang="en-US" altLang="ko-KR" dirty="0"/>
              <a:t>: </a:t>
            </a:r>
            <a:r>
              <a:rPr lang="en-US" altLang="ko-KR" dirty="0" err="1"/>
              <a:t>D_latch</a:t>
            </a:r>
            <a:r>
              <a:rPr lang="en-US" altLang="ko-KR" dirty="0"/>
              <a:t> , </a:t>
            </a:r>
            <a:r>
              <a:rPr lang="en-US" altLang="ko-KR" dirty="0" err="1"/>
              <a:t>D_flip_flop</a:t>
            </a:r>
            <a:r>
              <a:rPr lang="en-US" altLang="ko-KR" dirty="0"/>
              <a:t> , Register , Counter </a:t>
            </a:r>
            <a:r>
              <a:rPr lang="ko-KR" altLang="en-US" dirty="0"/>
              <a:t>등등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2F4BEA-011D-5028-ED72-01B86027F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429" y="2449779"/>
            <a:ext cx="1762371" cy="34829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8B0DACD-64A3-9AC9-8B8A-BEB501945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525" y="2449779"/>
            <a:ext cx="1762371" cy="348293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2045FE4-9544-8520-1CC3-5C96F28D0B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279" y="2449779"/>
            <a:ext cx="2857899" cy="348293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4E5FE54-C68E-F5B7-9169-118E8C4693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8491" y="2449780"/>
            <a:ext cx="1914792" cy="348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515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C8520E-8574-BD52-5023-09267C94B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순차논리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3B45BA-7967-1ACB-714E-8204E335F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8282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왜 저장기능이 필요한가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ko-KR" altLang="ko-KR" sz="1800" dirty="0"/>
              <a:t>조합논리회로는 현재 입력만으로 출력이 결정되기 때문에 이전의 값이나 상태를 기억할 수 없다. </a:t>
            </a:r>
            <a:endParaRPr lang="en-US" altLang="ko-KR" sz="1800" dirty="0"/>
          </a:p>
          <a:p>
            <a:pPr marL="0" indent="0">
              <a:buNone/>
            </a:pPr>
            <a:r>
              <a:rPr lang="ko-KR" altLang="ko-KR" sz="1800" dirty="0"/>
              <a:t>반면 실제 디지털 시스템에서는 이전 연산 결과나 현재 상태를 유지하고, 이를 다음 동작에 사용해야 한다. 따라서 순차논리회로에서는 데이터를 기억하기 위한 저장 기능이 필요하다</a:t>
            </a:r>
            <a:r>
              <a:rPr lang="ko-KR" altLang="ko-KR" dirty="0"/>
              <a:t>.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저장은 어떻게 되는가</a:t>
            </a:r>
            <a:r>
              <a:rPr lang="en-US" altLang="ko-KR" dirty="0"/>
              <a:t>?</a:t>
            </a:r>
          </a:p>
          <a:p>
            <a:pPr marL="0" indent="0">
              <a:buNone/>
            </a:pPr>
            <a:r>
              <a:rPr lang="ko-KR" altLang="ko-KR" sz="1600" dirty="0"/>
              <a:t>순차논리회로의 저장 기능은 출력의 일부를 다시 입력으로 되돌리는 </a:t>
            </a:r>
            <a:r>
              <a:rPr lang="ko-KR" altLang="ko-KR" sz="1600" dirty="0" err="1"/>
              <a:t>Feedback</a:t>
            </a:r>
            <a:r>
              <a:rPr lang="ko-KR" altLang="ko-KR" sz="1600" dirty="0"/>
              <a:t> 구조에서 시작된다. 대표적으로</a:t>
            </a:r>
            <a:endParaRPr lang="en-US" altLang="ko-KR" sz="1600" dirty="0"/>
          </a:p>
          <a:p>
            <a:pPr marL="0" indent="0">
              <a:buNone/>
            </a:pPr>
            <a:r>
              <a:rPr lang="ko-KR" altLang="ko-KR" sz="1600" dirty="0"/>
              <a:t> SR </a:t>
            </a:r>
            <a:r>
              <a:rPr lang="ko-KR" altLang="ko-KR" sz="1600" dirty="0" err="1"/>
              <a:t>Latch는</a:t>
            </a:r>
            <a:r>
              <a:rPr lang="ko-KR" altLang="ko-KR" sz="1600" dirty="0"/>
              <a:t> 두 논리 게이트의 출력을 서로의 입력으로 연결하여, 외부 입력이 변한 이후에도 이전 출력 상태가 회</a:t>
            </a:r>
            <a:endParaRPr lang="en-US" altLang="ko-KR" sz="1600" dirty="0"/>
          </a:p>
          <a:p>
            <a:pPr marL="0" indent="0">
              <a:buNone/>
            </a:pPr>
            <a:r>
              <a:rPr lang="ko-KR" altLang="ko-KR" sz="1600" dirty="0"/>
              <a:t>로 내부에서 계속 유지될 수 있도록 한다. 이러한 원리를 기반으로 </a:t>
            </a:r>
            <a:r>
              <a:rPr lang="ko-KR" altLang="ko-KR" sz="1600" dirty="0" err="1"/>
              <a:t>Latch와</a:t>
            </a:r>
            <a:r>
              <a:rPr lang="ko-KR" altLang="ko-KR" sz="1600" dirty="0"/>
              <a:t> </a:t>
            </a:r>
            <a:r>
              <a:rPr lang="ko-KR" altLang="ko-KR" sz="1600" dirty="0" err="1"/>
              <a:t>Flip-Flop이</a:t>
            </a:r>
            <a:r>
              <a:rPr lang="ko-KR" altLang="ko-KR" sz="1600" dirty="0"/>
              <a:t> 1bit의 정보를 저장하며, 여러 </a:t>
            </a:r>
            <a:r>
              <a:rPr lang="ko-KR" altLang="ko-KR" sz="1600" dirty="0" err="1"/>
              <a:t>Flip-Flop을</a:t>
            </a:r>
            <a:r>
              <a:rPr lang="ko-KR" altLang="ko-KR" sz="1600" dirty="0"/>
              <a:t> 병렬로 구성하면 여러 </a:t>
            </a:r>
            <a:r>
              <a:rPr lang="ko-KR" altLang="ko-KR" sz="1600" dirty="0" err="1"/>
              <a:t>bit의</a:t>
            </a:r>
            <a:r>
              <a:rPr lang="ko-KR" altLang="ko-KR" sz="1600" dirty="0"/>
              <a:t> 데이터를 저장하는 </a:t>
            </a:r>
            <a:r>
              <a:rPr lang="ko-KR" altLang="ko-KR" sz="1600" dirty="0" err="1"/>
              <a:t>Register를</a:t>
            </a:r>
            <a:r>
              <a:rPr lang="ko-KR" altLang="ko-KR" sz="1600" dirty="0"/>
              <a:t> 만들 수 있다</a:t>
            </a:r>
            <a:r>
              <a:rPr lang="ko-KR" altLang="ko-KR" dirty="0"/>
              <a:t>.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9183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C2CA6-07AA-4DED-799E-63D739386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Feedback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A01C697-15D5-C818-A167-2E0D4DE74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690688"/>
            <a:ext cx="10287000" cy="488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290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919E5-FA65-0A7B-DDA5-0521C1EB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Register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E9B58C3-0287-D47B-7B02-AD7CC8105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2857899" cy="44488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71B220A-8287-9497-8C3D-DB0472AE10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532" y="1690687"/>
            <a:ext cx="4870410" cy="444885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7978006-5DF4-3BB8-8907-4F31D1311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7633" y="1687532"/>
            <a:ext cx="2775309" cy="4448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00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FE6205-B62C-9CED-FFAC-DEC2FF95F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Register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1FFE0EA-519E-6FED-AF42-E2608ADF3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51456"/>
            <a:ext cx="10515600" cy="19321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770E8C-60BB-A2D7-7873-E22CA91F8338}"/>
              </a:ext>
            </a:extLst>
          </p:cNvPr>
          <p:cNvSpPr txBox="1"/>
          <p:nvPr/>
        </p:nvSpPr>
        <p:spPr>
          <a:xfrm>
            <a:off x="1055913" y="4744358"/>
            <a:ext cx="10014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입력 </a:t>
            </a:r>
            <a:r>
              <a:rPr lang="en-US" altLang="ko-KR" dirty="0" err="1"/>
              <a:t>i_d</a:t>
            </a:r>
            <a:r>
              <a:rPr lang="ko-KR" altLang="en-US" dirty="0"/>
              <a:t>가 변경 되더라도 출력 </a:t>
            </a:r>
            <a:r>
              <a:rPr lang="en-US" altLang="ko-KR" dirty="0" err="1"/>
              <a:t>o_q</a:t>
            </a:r>
            <a:r>
              <a:rPr lang="ko-KR" altLang="en-US" dirty="0"/>
              <a:t>가 즉시 변경 되지 않음을 확인</a:t>
            </a:r>
            <a:endParaRPr lang="en-US" altLang="ko-KR" dirty="0"/>
          </a:p>
          <a:p>
            <a:r>
              <a:rPr lang="en-US" altLang="ko-KR" dirty="0"/>
              <a:t>Clock</a:t>
            </a:r>
            <a:r>
              <a:rPr lang="ko-KR" altLang="en-US" dirty="0"/>
              <a:t>이 </a:t>
            </a:r>
            <a:r>
              <a:rPr lang="ko-KR" altLang="en-US" dirty="0" err="1"/>
              <a:t>상승엣지</a:t>
            </a:r>
            <a:r>
              <a:rPr lang="ko-KR" altLang="en-US" dirty="0"/>
              <a:t> </a:t>
            </a:r>
            <a:r>
              <a:rPr lang="ko-KR" altLang="en-US" dirty="0" err="1"/>
              <a:t>일때</a:t>
            </a:r>
            <a:r>
              <a:rPr lang="en-US" altLang="ko-KR" dirty="0"/>
              <a:t>, </a:t>
            </a:r>
            <a:r>
              <a:rPr lang="ko-KR" altLang="en-US" dirty="0" err="1"/>
              <a:t>입력값이</a:t>
            </a:r>
            <a:r>
              <a:rPr lang="ko-KR" altLang="en-US" dirty="0"/>
              <a:t> </a:t>
            </a:r>
            <a:r>
              <a:rPr lang="en-US" altLang="ko-KR" dirty="0"/>
              <a:t>Register</a:t>
            </a:r>
            <a:r>
              <a:rPr lang="ko-KR" altLang="en-US" dirty="0"/>
              <a:t>에 저장되고</a:t>
            </a:r>
            <a:r>
              <a:rPr lang="en-US" altLang="ko-KR" dirty="0"/>
              <a:t>, </a:t>
            </a:r>
            <a:r>
              <a:rPr lang="ko-KR" altLang="en-US" dirty="0"/>
              <a:t>저장된 값은 다음 </a:t>
            </a:r>
            <a:r>
              <a:rPr lang="en-US" altLang="ko-KR" dirty="0"/>
              <a:t>Clock</a:t>
            </a:r>
            <a:r>
              <a:rPr lang="ko-KR" altLang="en-US" dirty="0"/>
              <a:t> </a:t>
            </a:r>
            <a:r>
              <a:rPr lang="ko-KR" altLang="en-US" dirty="0" err="1"/>
              <a:t>상승엣지</a:t>
            </a:r>
            <a:r>
              <a:rPr lang="ko-KR" altLang="en-US" dirty="0"/>
              <a:t> 일때까지 유지됨을 확인할 수 있음</a:t>
            </a:r>
          </a:p>
        </p:txBody>
      </p:sp>
    </p:spTree>
    <p:extLst>
      <p:ext uri="{BB962C8B-B14F-4D97-AF65-F5344CB8AC3E}">
        <p14:creationId xmlns:p14="http://schemas.microsoft.com/office/powerpoint/2010/main" val="3520422036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ko-KR"/>
              <a:t>FSM</a:t>
            </a: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757106" y="1971830"/>
            <a:ext cx="5307259" cy="33316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/>
              <a:t>조합 논리가 다음 상태를 계산 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/>
              <a:t>Clock</a:t>
            </a:r>
            <a:r>
              <a:rPr lang="ko-KR" altLang="en-US"/>
              <a:t> 상승 일때 </a:t>
            </a:r>
            <a:r>
              <a:rPr lang="en-US" altLang="ko-KR"/>
              <a:t>state </a:t>
            </a:r>
            <a:r>
              <a:rPr lang="ko-KR" altLang="en-US"/>
              <a:t>저장 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조합</a:t>
            </a:r>
            <a:r>
              <a:rPr lang="en-US" altLang="ko-KR"/>
              <a:t>,</a:t>
            </a:r>
            <a:r>
              <a:rPr lang="ko-KR" altLang="en-US"/>
              <a:t>순차 논리가 동시에 들어감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 b="1"/>
              <a:t>FSM</a:t>
            </a:r>
            <a:r>
              <a:rPr lang="ko-KR" altLang="en-US" b="1"/>
              <a:t> 종류</a:t>
            </a:r>
            <a:endParaRPr lang="ko-KR" altLang="en-US" b="1"/>
          </a:p>
          <a:p>
            <a:pPr lvl="0">
              <a:defRPr/>
            </a:pPr>
            <a:endParaRPr lang="en-US" altLang="ko-KR" b="1"/>
          </a:p>
          <a:p>
            <a:pPr lvl="0">
              <a:defRPr/>
            </a:pPr>
            <a:r>
              <a:rPr lang="en-US" altLang="ko-KR" sz="1700" b="1"/>
              <a:t>1. Moore</a:t>
            </a:r>
            <a:r>
              <a:rPr lang="ko-KR" altLang="en-US" sz="1700" b="1"/>
              <a:t> </a:t>
            </a:r>
            <a:r>
              <a:rPr lang="en-US" altLang="ko-KR" sz="1700" b="1"/>
              <a:t>FSM: </a:t>
            </a:r>
            <a:r>
              <a:rPr lang="ko-KR" altLang="en-US" sz="1700" b="0"/>
              <a:t>출력 </a:t>
            </a:r>
            <a:r>
              <a:rPr lang="en-US" altLang="ko-KR" sz="1700" b="0"/>
              <a:t>=</a:t>
            </a:r>
            <a:r>
              <a:rPr lang="ko-KR" altLang="en-US" sz="1700" b="0"/>
              <a:t> 현재상태에 의해서만 결정</a:t>
            </a:r>
            <a:endParaRPr lang="ko-KR" altLang="en-US" sz="1700" b="0"/>
          </a:p>
          <a:p>
            <a:pPr lvl="0">
              <a:defRPr/>
            </a:pPr>
            <a:r>
              <a:rPr lang="en-US" altLang="ko-KR" sz="1700" b="1"/>
              <a:t>2. Mealy FSM:</a:t>
            </a:r>
            <a:r>
              <a:rPr lang="ko-KR" altLang="en-US" sz="1700" b="1"/>
              <a:t> </a:t>
            </a:r>
            <a:r>
              <a:rPr lang="ko-KR" altLang="en-US" sz="1700" b="0"/>
              <a:t>출력 </a:t>
            </a:r>
            <a:r>
              <a:rPr lang="en-US" altLang="ko-KR" sz="1700" b="0"/>
              <a:t>=</a:t>
            </a:r>
            <a:r>
              <a:rPr lang="ko-KR" altLang="en-US" sz="1700" b="0"/>
              <a:t> 현재상태와 입력에 의해 결정</a:t>
            </a:r>
            <a:endParaRPr lang="ko-KR" altLang="en-US" sz="1700" b="0"/>
          </a:p>
          <a:p>
            <a:pPr lvl="0">
              <a:defRPr/>
            </a:pPr>
            <a:endParaRPr lang="ko-KR" altLang="en-US" sz="1700"/>
          </a:p>
          <a:p>
            <a:pPr lvl="0">
              <a:defRPr/>
            </a:pPr>
            <a:endParaRPr lang="en-US" altLang="ko-KR"/>
          </a:p>
        </p:txBody>
      </p:sp>
      <p:pic>
        <p:nvPicPr>
          <p:cNvPr id="8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84533" y="1780976"/>
            <a:ext cx="6539535" cy="43513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                  3-state FSM</a:t>
            </a:r>
            <a:endParaRPr lang="en-US" altLang="ko-KR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014115" y="1790356"/>
            <a:ext cx="2989761" cy="4377081"/>
          </a:xfrm>
          <a:prstGeom prst="rect">
            <a:avLst/>
          </a:prstGeom>
        </p:spPr>
      </p:pic>
      <p:pic>
        <p:nvPicPr>
          <p:cNvPr id="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097695" y="1797595"/>
            <a:ext cx="2571090" cy="4367926"/>
          </a:xfrm>
          <a:prstGeom prst="rect">
            <a:avLst/>
          </a:prstGeom>
        </p:spPr>
      </p:pic>
      <p:sp>
        <p:nvSpPr>
          <p:cNvPr id="5" name=""/>
          <p:cNvSpPr txBox="1"/>
          <p:nvPr/>
        </p:nvSpPr>
        <p:spPr>
          <a:xfrm>
            <a:off x="6997388" y="1805455"/>
            <a:ext cx="3086798" cy="771551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ko-KR" altLang="en-US" sz="1500"/>
              <a:t>FSM = State Register(순차논리) +          </a:t>
            </a:r>
            <a:endParaRPr lang="ko-KR" altLang="en-US" sz="1500"/>
          </a:p>
          <a:p>
            <a:pPr>
              <a:defRPr/>
            </a:pPr>
            <a:r>
              <a:rPr lang="ko-KR" altLang="en-US" sz="1500"/>
              <a:t>      Next-State Logic(조합논리) +  </a:t>
            </a:r>
            <a:endParaRPr lang="ko-KR" altLang="en-US" sz="1500"/>
          </a:p>
          <a:p>
            <a:pPr>
              <a:defRPr/>
            </a:pPr>
            <a:r>
              <a:rPr lang="ko-KR" altLang="en-US" sz="1500"/>
              <a:t>          Output Logic(조합논리)</a:t>
            </a:r>
            <a:endParaRPr lang="ko-KR" altLang="en-US" sz="1500"/>
          </a:p>
        </p:txBody>
      </p:sp>
      <p:sp>
        <p:nvSpPr>
          <p:cNvPr id="6" name=""/>
          <p:cNvSpPr txBox="1"/>
          <p:nvPr/>
        </p:nvSpPr>
        <p:spPr>
          <a:xfrm>
            <a:off x="6830054" y="4270744"/>
            <a:ext cx="4077654" cy="187097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900"/>
              <a:t>조합논리와 순차논리를 각각 학습한 후, 두 구조가 실제 설계에서 어떻게 결합되는지 확인하기 위해 3-State FSM을 구현 FSM은 IDLE, RUN, DONE 세 가지 상태로 구성</a:t>
            </a:r>
            <a:endParaRPr lang="en-US" altLang="ko-KR" sz="900"/>
          </a:p>
          <a:p>
            <a:pPr>
              <a:defRPr/>
            </a:pPr>
            <a:endParaRPr lang="en-US" altLang="ko-KR" sz="900"/>
          </a:p>
          <a:p>
            <a:pPr>
              <a:defRPr/>
            </a:pPr>
            <a:r>
              <a:rPr lang="en-US" altLang="ko-KR" sz="900" b="1"/>
              <a:t>1.</a:t>
            </a:r>
            <a:r>
              <a:rPr lang="en-US" altLang="ko-KR" sz="900"/>
              <a:t> State Register는 순차논리로, Reset</a:t>
            </a:r>
            <a:r>
              <a:rPr lang="ko-KR" altLang="en-US" sz="900"/>
              <a:t>이 들어오면 </a:t>
            </a:r>
            <a:r>
              <a:rPr lang="en-US" altLang="ko-KR" sz="900"/>
              <a:t>IDLE</a:t>
            </a:r>
            <a:r>
              <a:rPr lang="ko-KR" altLang="en-US" sz="900"/>
              <a:t> 상태로 초기화 되고</a:t>
            </a:r>
            <a:r>
              <a:rPr lang="en-US" altLang="ko-KR" sz="900"/>
              <a:t>,</a:t>
            </a:r>
            <a:r>
              <a:rPr lang="ko-KR" altLang="en-US" sz="900"/>
              <a:t> 이후 </a:t>
            </a:r>
            <a:r>
              <a:rPr lang="en-US" altLang="ko-KR" sz="900"/>
              <a:t>Clock의 상승 에지에서 다음 상태를 현재 상태로 저장</a:t>
            </a:r>
            <a:endParaRPr lang="en-US" altLang="ko-KR" sz="900"/>
          </a:p>
          <a:p>
            <a:pPr>
              <a:defRPr/>
            </a:pPr>
            <a:r>
              <a:rPr lang="en-US" altLang="ko-KR" sz="900" b="1"/>
              <a:t>2.</a:t>
            </a:r>
            <a:r>
              <a:rPr lang="en-US" altLang="ko-KR" sz="900"/>
              <a:t> Next-State Logic은 조합논리로 현재 상태와 입력을 이용하여 다음 상태를 결정</a:t>
            </a:r>
            <a:endParaRPr lang="en-US" altLang="ko-KR" sz="900"/>
          </a:p>
          <a:p>
            <a:pPr>
              <a:defRPr/>
            </a:pPr>
            <a:r>
              <a:rPr lang="en-US" altLang="ko-KR" sz="900" b="1"/>
              <a:t>3.</a:t>
            </a:r>
            <a:r>
              <a:rPr lang="en-US" altLang="ko-KR" sz="900"/>
              <a:t> Output Logic 역시 조합논리로 현재 상태에 따라 ready와 done 출력을 결</a:t>
            </a:r>
            <a:r>
              <a:rPr lang="ko-KR" altLang="en-US" sz="900"/>
              <a:t>정</a:t>
            </a:r>
            <a:endParaRPr lang="ko-KR" altLang="en-US" sz="900"/>
          </a:p>
          <a:p>
            <a:pPr>
              <a:defRPr/>
            </a:pPr>
            <a:endParaRPr lang="en-US" altLang="ko-KR" sz="900"/>
          </a:p>
          <a:p>
            <a:pPr>
              <a:defRPr/>
            </a:pPr>
            <a:r>
              <a:rPr lang="en-US" altLang="ko-KR" sz="900"/>
              <a:t>따라서 FSM을 구현하면서 조합논리가 다음 동작을 결정하고, 순차논리가 현재 상태를 저장하는 방식으로 두 논리회로가 결합</a:t>
            </a:r>
            <a:r>
              <a:rPr lang="ko-KR" altLang="en-US" sz="900"/>
              <a:t>됨</a:t>
            </a:r>
            <a:endParaRPr lang="ko-KR" altLang="en-US" sz="900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937138" y="2612938"/>
            <a:ext cx="3768855" cy="163212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algn="ctr">
              <a:defRPr/>
            </a:pPr>
            <a:r>
              <a:rPr lang="en-US" altLang="ko-KR"/>
              <a:t>3-state FSM </a:t>
            </a:r>
            <a:endParaRPr lang="en-US" altLang="ko-KR"/>
          </a:p>
        </p:txBody>
      </p:sp>
      <p:pic>
        <p:nvPicPr>
          <p:cNvPr id="4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621870" y="1723909"/>
            <a:ext cx="2375759" cy="4351338"/>
          </a:xfrm>
          <a:prstGeom prst="rect">
            <a:avLst/>
          </a:prstGeom>
        </p:spPr>
      </p:pic>
      <p:pic>
        <p:nvPicPr>
          <p:cNvPr id="5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294855" y="1718278"/>
            <a:ext cx="2448266" cy="4349811"/>
          </a:xfrm>
          <a:prstGeom prst="rect">
            <a:avLst/>
          </a:prstGeom>
        </p:spPr>
      </p:pic>
      <p:sp>
        <p:nvSpPr>
          <p:cNvPr id="6" name=""/>
          <p:cNvSpPr txBox="1"/>
          <p:nvPr/>
        </p:nvSpPr>
        <p:spPr>
          <a:xfrm>
            <a:off x="6557595" y="1699683"/>
            <a:ext cx="1110001" cy="206371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1000"/>
              <a:t>Reset</a:t>
            </a:r>
            <a:r>
              <a:rPr lang="ko-KR" altLang="en-US" sz="1000"/>
              <a:t> </a:t>
            </a:r>
            <a:endParaRPr lang="ko-KR" altLang="en-US" sz="1000"/>
          </a:p>
          <a:p>
            <a:pPr>
              <a:defRPr/>
            </a:pPr>
            <a:r>
              <a:rPr lang="en-US" altLang="ko-KR" sz="1000"/>
              <a:t>  ↓</a:t>
            </a:r>
            <a:endParaRPr lang="en-US" altLang="ko-KR" sz="1000"/>
          </a:p>
          <a:p>
            <a:pPr>
              <a:defRPr/>
            </a:pPr>
            <a:r>
              <a:rPr lang="en-US" altLang="ko-KR" sz="1000"/>
              <a:t>IDLE</a:t>
            </a:r>
            <a:endParaRPr lang="en-US" altLang="ko-KR" sz="1000"/>
          </a:p>
          <a:p>
            <a:pPr>
              <a:defRPr/>
            </a:pPr>
            <a:r>
              <a:rPr lang="en-US" altLang="ko-KR" sz="1000"/>
              <a:t>  ↓ i_start = 1</a:t>
            </a:r>
            <a:endParaRPr lang="en-US" altLang="ko-KR" sz="1000"/>
          </a:p>
          <a:p>
            <a:pPr>
              <a:defRPr/>
            </a:pPr>
            <a:r>
              <a:rPr lang="en-US" altLang="ko-KR" sz="1000"/>
              <a:t>RUN</a:t>
            </a:r>
            <a:endParaRPr lang="en-US" altLang="ko-KR" sz="1000"/>
          </a:p>
          <a:p>
            <a:pPr>
              <a:defRPr/>
            </a:pPr>
            <a:r>
              <a:rPr lang="en-US" altLang="ko-KR" sz="1000"/>
              <a:t>  ↓ i_finish = 0</a:t>
            </a:r>
            <a:endParaRPr lang="en-US" altLang="ko-KR" sz="1000"/>
          </a:p>
          <a:p>
            <a:pPr>
              <a:defRPr/>
            </a:pPr>
            <a:r>
              <a:rPr lang="en-US" altLang="ko-KR" sz="1000"/>
              <a:t>RUN 유지</a:t>
            </a:r>
            <a:endParaRPr lang="en-US" altLang="ko-KR" sz="1000"/>
          </a:p>
          <a:p>
            <a:pPr>
              <a:defRPr/>
            </a:pPr>
            <a:r>
              <a:rPr lang="en-US" altLang="ko-KR" sz="1000"/>
              <a:t>  ↓ i_finish = 1</a:t>
            </a:r>
            <a:endParaRPr lang="en-US" altLang="ko-KR" sz="1000"/>
          </a:p>
          <a:p>
            <a:pPr>
              <a:defRPr/>
            </a:pPr>
            <a:r>
              <a:rPr lang="en-US" altLang="ko-KR" sz="1000"/>
              <a:t>DONE</a:t>
            </a:r>
            <a:endParaRPr lang="en-US" altLang="ko-KR" sz="1000"/>
          </a:p>
          <a:p>
            <a:pPr>
              <a:defRPr/>
            </a:pPr>
            <a:r>
              <a:rPr lang="en-US" altLang="ko-KR" sz="1000"/>
              <a:t>  ↓</a:t>
            </a:r>
            <a:endParaRPr lang="en-US" altLang="ko-KR" sz="1000"/>
          </a:p>
          <a:p>
            <a:pPr>
              <a:defRPr/>
            </a:pPr>
            <a:r>
              <a:rPr lang="en-US" altLang="ko-KR" sz="1000"/>
              <a:t>IDLE</a:t>
            </a:r>
            <a:endParaRPr lang="en-US" altLang="ko-KR" sz="1000"/>
          </a:p>
          <a:p>
            <a:pPr>
              <a:defRPr/>
            </a:pPr>
            <a:r>
              <a:rPr lang="en-US" altLang="ko-KR" sz="1000"/>
              <a:t>  ↓</a:t>
            </a:r>
            <a:endParaRPr lang="en-US" altLang="ko-KR" sz="1000"/>
          </a:p>
          <a:p>
            <a:pPr>
              <a:defRPr/>
            </a:pPr>
            <a:r>
              <a:rPr lang="en-US" altLang="ko-KR" sz="1000"/>
              <a:t>finish</a:t>
            </a:r>
            <a:endParaRPr lang="en-US" altLang="ko-KR" sz="1000"/>
          </a:p>
        </p:txBody>
      </p:sp>
      <p:sp>
        <p:nvSpPr>
          <p:cNvPr id="7" name=""/>
          <p:cNvSpPr txBox="1"/>
          <p:nvPr/>
        </p:nvSpPr>
        <p:spPr>
          <a:xfrm>
            <a:off x="2492877" y="6217809"/>
            <a:ext cx="1249008" cy="64019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r>
              <a:rPr lang="en-US" altLang="ko-KR"/>
              <a:t>Testbench</a:t>
            </a:r>
            <a:endParaRPr lang="en-US" altLang="ko-KR"/>
          </a:p>
          <a:p>
            <a:pPr>
              <a:defRPr/>
            </a:pPr>
            <a:endParaRPr lang="en-US" altLang="ko-KR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096000" y="3744488"/>
            <a:ext cx="5601571" cy="1692088"/>
          </a:xfrm>
          <a:prstGeom prst="rect">
            <a:avLst/>
          </a:prstGeom>
        </p:spPr>
      </p:pic>
      <p:sp>
        <p:nvSpPr>
          <p:cNvPr id="9" name=""/>
          <p:cNvSpPr txBox="1"/>
          <p:nvPr/>
        </p:nvSpPr>
        <p:spPr>
          <a:xfrm>
            <a:off x="6478139" y="5473211"/>
            <a:ext cx="5040752" cy="545446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ko-KR" sz="1000"/>
              <a:t>Reset 후 IDLE 상태로 시작하며 o_ready=1이 </a:t>
            </a:r>
            <a:r>
              <a:rPr lang="ko-KR" altLang="en-US" sz="1000"/>
              <a:t>됨</a:t>
            </a:r>
            <a:endParaRPr lang="ko-KR" altLang="en-US" sz="1000"/>
          </a:p>
          <a:p>
            <a:pPr>
              <a:defRPr/>
            </a:pPr>
            <a:r>
              <a:rPr lang="en-US" altLang="ko-KR" sz="1000"/>
              <a:t>i_start=1이면 다음 Clock에서 RUN, i_finish=1이면 다음 Clock에서 DONE으로 전환</a:t>
            </a:r>
            <a:endParaRPr lang="en-US" altLang="ko-KR" sz="1000"/>
          </a:p>
          <a:p>
            <a:pPr>
              <a:defRPr/>
            </a:pPr>
            <a:r>
              <a:rPr lang="en-US" altLang="ko-KR" sz="1000"/>
              <a:t>DONE 상태에서는 o_done=1이 되고, 다음 Clock에서 다시 IDLE로 복귀</a:t>
            </a:r>
            <a:endParaRPr lang="en-US" altLang="ko-KR" sz="1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  <a:defRPr/>
            </a:pPr>
            <a:endParaRPr lang="ko-KR" altLang="en-US"/>
          </a:p>
          <a:p>
            <a:pPr marL="0" indent="0" algn="ctr">
              <a:buNone/>
              <a:defRPr/>
            </a:pPr>
            <a:endParaRPr lang="ko-KR" altLang="en-US"/>
          </a:p>
          <a:p>
            <a:pPr marL="0" indent="0" algn="ctr">
              <a:buNone/>
              <a:defRPr/>
            </a:pPr>
            <a:r>
              <a:rPr lang="ko-KR" altLang="en-US" sz="4700"/>
              <a:t>감사합니다</a:t>
            </a:r>
            <a:r>
              <a:rPr lang="en-US" altLang="ko-KR" sz="4700"/>
              <a:t>.</a:t>
            </a:r>
            <a:endParaRPr lang="en-US" altLang="ko-KR" sz="47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454</ep:Words>
  <ep:PresentationFormat>와이드스크린</ep:PresentationFormat>
  <ep:Paragraphs>77</ep:Paragraphs>
  <ep:Slides>15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ep:HeadingPairs>
  <ep:TitlesOfParts>
    <vt:vector size="16" baseType="lpstr">
      <vt:lpstr>Office 테마</vt:lpstr>
      <vt:lpstr>방학 과제</vt:lpstr>
      <vt:lpstr>Study plan &amp; 이번 학습 범위</vt:lpstr>
      <vt:lpstr>조합 논리 vs 순차논리</vt:lpstr>
      <vt:lpstr>조합 논리</vt:lpstr>
      <vt:lpstr>MUX 2x1</vt:lpstr>
      <vt:lpstr>MUX_2x1</vt:lpstr>
      <vt:lpstr>순차논리</vt:lpstr>
      <vt:lpstr>순차논리</vt:lpstr>
      <vt:lpstr>Feedback</vt:lpstr>
      <vt:lpstr>Register</vt:lpstr>
      <vt:lpstr>Register</vt:lpstr>
      <vt:lpstr>FSM</vt:lpstr>
      <vt:lpstr>3-state FSM</vt:lpstr>
      <vt:lpstr>3-state FSM</vt:lpstr>
      <vt:lpstr>슬라이드 15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2026-08-17T14:06:23.000</dcterms:created>
  <dc:creator>환식 김</dc:creator>
  <cp:lastModifiedBy>user</cp:lastModifiedBy>
  <dcterms:modified xsi:type="dcterms:W3CDTF">2026-08-18T05:44:53.101</dcterms:modified>
  <cp:revision>41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