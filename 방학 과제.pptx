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95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6A0CD-5CA7-A3B5-33C7-7C2BEC9AB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E1B4EF-A24A-9B12-7F63-5373CD38B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85848-BB5D-1E26-9FEB-1BFEDCBB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F3F42-C7C1-19B9-3EC5-4548971C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563C2-29E7-871B-39ED-E58FD48A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4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4DAFB-9DF6-F5FC-510C-95C7F6C4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5846B-5BA1-85BC-7F23-83B49A35F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E738-C23C-58CD-3A2C-6EA53F65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6A592-5593-EE84-2380-E47ACFBD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18716-4119-A8D5-35BD-15AA0DD4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64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5995E-C00D-CCB4-BB3C-E5067C66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8AB56-BFB5-6F3A-06BF-428546408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1A192-2913-5C39-0E48-C17F7369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04FD7-DFA6-D419-7108-476CD2F67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FCAC8C-CFFC-0D7A-56B1-DB1DF70A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7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AEE73-8C33-AB78-6A42-0397B82F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7E6AE-4A1B-98EE-733C-60772F551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70CE4D-8169-7062-B674-E497E2ED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C08690-3CFB-7FF6-A03E-27766C8E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0FC1E2-F933-97C4-F3F4-354CFAB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92DEE-26F0-CE83-D4A1-2612D3F4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68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9D9EB-C060-F372-DD62-D5480104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34F70-97D4-D585-A09B-8FD81227F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F9B239-9B15-C1C7-86DC-048DFCF1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91072-E2DB-9F13-D364-B5B35E774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8785B8-1055-0EC4-D98F-871650C4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3CF1AA-050B-D3DF-3D68-8DE1570B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DC7680-C796-1865-AB6C-798F6814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FC4550-C9CC-B9DD-2D6B-F4A6D763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9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9D43D-6F82-B87B-DBA3-9F5A93B4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30C067-35F5-2BD3-AEE3-F075F9B1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E80D0-6A3D-48D4-8C44-C260E4B1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774B7D-A044-1774-4C22-188796E5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18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1A093-996C-FDAE-C878-1947669B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D7BF51-4DCB-24A4-5311-943147CB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5855A-8CDB-FE9F-43C5-A6163F45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2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77C2-6D9F-7971-3570-1A138077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0E63C1-CD7C-101A-C8BD-9FB84916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43C29F-7E7E-48A7-AF4D-5A37BF4E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4AE87-E6EA-2288-D039-04CE505D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59CAC3-78C6-DC97-443A-2F9FC848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2BB6AB-4CE2-FFDB-0B98-0E352538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48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1F6CD-5B35-C460-20B5-6946C238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27700F-4C4A-7840-14C6-4130D2AF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F6877E-B751-0EBD-0972-C832AE43B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3A81D-720A-A703-C82B-1367D26D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134E8-DE35-C481-F97C-80B2B17A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20886B-99F2-F6C9-371A-812DD3E0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5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18-CC22-6F39-EB0C-3D39E9B9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0E1C7-478C-BDE4-DA50-ADFA2F519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91C96-7A7E-4D55-FA69-A03C6C4A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2DAA69-8C50-62B1-80EF-AA26A3DD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AEBAE-506C-6622-23FB-BDC29304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93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36FAD4-3772-2034-4FDD-A21C392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297C35-40A3-F02B-A950-2B73DF905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3F8FB-E482-6DF3-4652-698F3989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62718-70B8-5A77-E3CD-8D768841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DEB04E-AD7B-FDB8-E5E1-FE1ACE0B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2309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7CF08A-558C-926E-713A-216F70A4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CFC52F-8CE4-9204-18B1-968D6C6B0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4F156-5918-2B80-EB90-29CF721A0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B4501-E3BD-71F2-B93F-41FCA53F3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47BE6-15F3-6B43-86DB-6DABF0B2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1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6.jpeg"  /><Relationship Id="rId4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jpe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57660-4929-7F40-3D99-3CEDE5D4F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방학 과제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4C04B5-7649-3003-26AA-4106C5418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반도체 </a:t>
            </a:r>
            <a:r>
              <a:rPr lang="ko-KR" altLang="en-US" dirty="0" err="1"/>
              <a:t>설계과</a:t>
            </a:r>
            <a:r>
              <a:rPr lang="ko-KR" altLang="en-US" dirty="0"/>
              <a:t> 하이테크 김환식</a:t>
            </a:r>
          </a:p>
        </p:txBody>
      </p:sp>
    </p:spTree>
    <p:extLst>
      <p:ext uri="{BB962C8B-B14F-4D97-AF65-F5344CB8AC3E}">
        <p14:creationId xmlns:p14="http://schemas.microsoft.com/office/powerpoint/2010/main" val="293477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369E3-91BF-AD81-516F-B66EF797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      Study plan &amp; </a:t>
            </a:r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학습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6D937-4932-0280-FE07-1D3FFCCA7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ko-KR" b="1" dirty="0" err="1"/>
              <a:t>Hardware</a:t>
            </a:r>
            <a:endParaRPr lang="en-US" altLang="ko-KR" b="1" dirty="0"/>
          </a:p>
          <a:p>
            <a:pPr marL="0" indent="0">
              <a:buNone/>
            </a:pPr>
            <a:endParaRPr lang="ko-KR" altLang="ko-KR" b="1" dirty="0"/>
          </a:p>
          <a:p>
            <a:pPr marL="0" lvl="0" indent="0">
              <a:buNone/>
            </a:pPr>
            <a:r>
              <a:rPr lang="en-US" altLang="ko-KR" sz="2000" dirty="0"/>
              <a:t>1. </a:t>
            </a:r>
            <a:r>
              <a:rPr lang="ko-KR" altLang="ko-KR" sz="2000" dirty="0"/>
              <a:t>Digital </a:t>
            </a:r>
            <a:r>
              <a:rPr lang="ko-KR" altLang="ko-KR" sz="2000" dirty="0" err="1"/>
              <a:t>Logic</a:t>
            </a:r>
            <a:r>
              <a:rPr lang="ko-KR" altLang="ko-KR" sz="2000" dirty="0"/>
              <a:t> Circuit + HDL + Digital System </a:t>
            </a:r>
            <a:r>
              <a:rPr lang="en-US" altLang="ko-KR" sz="2000" b="1" dirty="0"/>
              <a:t>&lt;- </a:t>
            </a:r>
            <a:r>
              <a:rPr lang="ko-KR" altLang="en-US" sz="2000" b="1" dirty="0"/>
              <a:t>이 부분 학습</a:t>
            </a:r>
            <a:endParaRPr lang="ko-KR" altLang="ko-KR" sz="2000" b="1" dirty="0"/>
          </a:p>
          <a:p>
            <a:pPr marL="0" lvl="0" indent="0">
              <a:buNone/>
            </a:pPr>
            <a:r>
              <a:rPr lang="en-US" altLang="ko-KR" sz="2000" dirty="0"/>
              <a:t>2. </a:t>
            </a:r>
            <a:r>
              <a:rPr lang="ko-KR" altLang="ko-KR" sz="2000" dirty="0" err="1"/>
              <a:t>Signal</a:t>
            </a:r>
            <a:r>
              <a:rPr lang="ko-KR" altLang="ko-KR" sz="2000" dirty="0"/>
              <a:t> Processing </a:t>
            </a:r>
          </a:p>
          <a:p>
            <a:pPr marL="0" lvl="0" indent="0">
              <a:buNone/>
            </a:pPr>
            <a:r>
              <a:rPr lang="en-US" altLang="ko-KR" sz="2000" dirty="0"/>
              <a:t>3. </a:t>
            </a:r>
            <a:r>
              <a:rPr lang="ko-KR" altLang="ko-KR" sz="2000" dirty="0"/>
              <a:t>Electronic Circuit </a:t>
            </a:r>
          </a:p>
          <a:p>
            <a:pPr marL="0" lvl="0" indent="0">
              <a:buNone/>
            </a:pPr>
            <a:r>
              <a:rPr lang="en-US" altLang="ko-KR" sz="2000" dirty="0"/>
              <a:t>4. </a:t>
            </a:r>
            <a:r>
              <a:rPr lang="ko-KR" altLang="ko-KR" sz="2000" dirty="0" err="1"/>
              <a:t>Electro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Magnetic</a:t>
            </a:r>
            <a:r>
              <a:rPr lang="ko-KR" altLang="ko-KR" sz="2000" dirty="0"/>
              <a:t> </a:t>
            </a:r>
            <a:endParaRPr lang="en-US" altLang="ko-KR" sz="2000" dirty="0"/>
          </a:p>
          <a:p>
            <a:pPr marL="0" lvl="0" indent="0">
              <a:buNone/>
            </a:pPr>
            <a:endParaRPr lang="ko-KR" altLang="ko-KR" sz="2000" dirty="0"/>
          </a:p>
          <a:p>
            <a:pPr marL="0" indent="0">
              <a:buNone/>
            </a:pPr>
            <a:r>
              <a:rPr lang="ko-KR" altLang="ko-KR" b="1" dirty="0" err="1"/>
              <a:t>Software</a:t>
            </a:r>
            <a:endParaRPr lang="en-US" altLang="ko-KR" b="1" dirty="0"/>
          </a:p>
          <a:p>
            <a:pPr marL="0" indent="0">
              <a:buNone/>
            </a:pPr>
            <a:endParaRPr lang="ko-KR" altLang="ko-KR" b="1" dirty="0"/>
          </a:p>
          <a:p>
            <a:pPr marL="0" lvl="0" indent="0">
              <a:buNone/>
            </a:pPr>
            <a:r>
              <a:rPr lang="en-US" altLang="ko-KR" sz="2000" dirty="0"/>
              <a:t>1. </a:t>
            </a:r>
            <a:r>
              <a:rPr lang="ko-KR" altLang="ko-KR" sz="2000" dirty="0"/>
              <a:t>C 언어 </a:t>
            </a:r>
          </a:p>
          <a:p>
            <a:pPr marL="0" lvl="0" indent="0">
              <a:buNone/>
            </a:pPr>
            <a:r>
              <a:rPr lang="en-US" altLang="ko-KR" sz="2000" dirty="0"/>
              <a:t>2. </a:t>
            </a:r>
            <a:r>
              <a:rPr lang="ko-KR" altLang="ko-KR" sz="2000" dirty="0" err="1"/>
              <a:t>Linux</a:t>
            </a:r>
            <a:r>
              <a:rPr lang="ko-KR" altLang="ko-KR" sz="2000" dirty="0"/>
              <a:t> → GCC (</a:t>
            </a:r>
            <a:r>
              <a:rPr lang="ko-KR" altLang="ko-KR" sz="2000" dirty="0" err="1"/>
              <a:t>Compile</a:t>
            </a:r>
            <a:r>
              <a:rPr lang="ko-KR" altLang="ko-KR" sz="2000" dirty="0"/>
              <a:t>) → </a:t>
            </a:r>
            <a:r>
              <a:rPr lang="ko-KR" altLang="ko-KR" sz="2000" dirty="0" err="1"/>
              <a:t>Firmware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Programming</a:t>
            </a:r>
            <a:endParaRPr lang="ko-KR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27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89D3D-2FB2-2FFB-6238-845F22DB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조합 논리 </a:t>
            </a:r>
            <a:r>
              <a:rPr lang="en-US" altLang="ko-KR" dirty="0"/>
              <a:t>vs </a:t>
            </a:r>
            <a:r>
              <a:rPr lang="ko-KR" altLang="en-US" dirty="0"/>
              <a:t>순차논리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297E7B5-375F-64B2-C6BD-70EA65D82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5257800" cy="29436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037B5F-12EB-E0C5-74B5-50DA7387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236" y="1690688"/>
            <a:ext cx="3896269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8E80BF-2713-43F6-7A45-5426D26A71F1}"/>
              </a:ext>
            </a:extLst>
          </p:cNvPr>
          <p:cNvSpPr txBox="1"/>
          <p:nvPr/>
        </p:nvSpPr>
        <p:spPr>
          <a:xfrm>
            <a:off x="838200" y="4797980"/>
            <a:ext cx="1007038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핵심원리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dirty="0"/>
              <a:t>조합논리</a:t>
            </a:r>
            <a:r>
              <a:rPr lang="en-US" altLang="ko-KR" dirty="0"/>
              <a:t>: </a:t>
            </a:r>
            <a:r>
              <a:rPr lang="ko-KR" altLang="en-US" dirty="0"/>
              <a:t>출력은 현재 입력의 조합에 의해서만 결정 </a:t>
            </a:r>
            <a:r>
              <a:rPr lang="en-US" altLang="ko-KR" dirty="0"/>
              <a:t>, </a:t>
            </a:r>
            <a:r>
              <a:rPr lang="ko-KR" altLang="en-US" dirty="0"/>
              <a:t>이전 상태를 기억하지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순차논리</a:t>
            </a:r>
            <a:r>
              <a:rPr lang="en-US" altLang="ko-KR" dirty="0"/>
              <a:t>: </a:t>
            </a:r>
            <a:r>
              <a:rPr lang="ko-KR" altLang="en-US" dirty="0"/>
              <a:t>출력은 현재 입력뿐 아니라 저장된 이전의 상태의 영향을 받고 상태를 기억할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77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93D0-5CE3-46C4-19F9-DE2E63C0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조합 논리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91D613-7013-49C7-066B-3338E9FE5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종류 </a:t>
            </a:r>
            <a:r>
              <a:rPr lang="en-US" altLang="ko-KR" dirty="0"/>
              <a:t>: </a:t>
            </a:r>
            <a:r>
              <a:rPr lang="ko-KR" altLang="ko-KR" dirty="0" err="1"/>
              <a:t>Adder</a:t>
            </a:r>
            <a:r>
              <a:rPr lang="en-US" altLang="ko-KR" dirty="0"/>
              <a:t>(</a:t>
            </a:r>
            <a:r>
              <a:rPr lang="ko-KR" altLang="en-US" dirty="0"/>
              <a:t>가산기</a:t>
            </a:r>
            <a:r>
              <a:rPr lang="en-US" altLang="ko-KR" dirty="0"/>
              <a:t>)</a:t>
            </a:r>
            <a:r>
              <a:rPr lang="ko-KR" altLang="ko-KR" dirty="0"/>
              <a:t>, </a:t>
            </a:r>
            <a:r>
              <a:rPr lang="ko-KR" altLang="ko-KR" dirty="0" err="1"/>
              <a:t>Subtractor</a:t>
            </a:r>
            <a:r>
              <a:rPr lang="en-US" altLang="ko-KR" dirty="0"/>
              <a:t>(</a:t>
            </a:r>
            <a:r>
              <a:rPr lang="ko-KR" altLang="en-US" dirty="0" err="1"/>
              <a:t>감산기</a:t>
            </a:r>
            <a:r>
              <a:rPr lang="en-US" altLang="ko-KR" dirty="0"/>
              <a:t>)</a:t>
            </a:r>
            <a:r>
              <a:rPr lang="ko-KR" altLang="ko-KR" dirty="0"/>
              <a:t>, </a:t>
            </a:r>
            <a:r>
              <a:rPr lang="ko-KR" altLang="ko-KR" dirty="0" err="1"/>
              <a:t>Comparator</a:t>
            </a:r>
            <a:r>
              <a:rPr lang="en-US" altLang="ko-KR" dirty="0"/>
              <a:t>(</a:t>
            </a:r>
            <a:r>
              <a:rPr lang="ko-KR" altLang="en-US" dirty="0"/>
              <a:t>비교기</a:t>
            </a:r>
            <a:r>
              <a:rPr lang="en-US" altLang="ko-KR" dirty="0"/>
              <a:t>)</a:t>
            </a:r>
            <a:r>
              <a:rPr lang="ko-KR" altLang="ko-KR" dirty="0"/>
              <a:t>, </a:t>
            </a:r>
            <a:r>
              <a:rPr lang="ko-KR" altLang="ko-KR" dirty="0" err="1"/>
              <a:t>Multiplexer</a:t>
            </a:r>
            <a:r>
              <a:rPr lang="ko-KR" altLang="ko-KR" dirty="0"/>
              <a:t>, </a:t>
            </a:r>
            <a:r>
              <a:rPr lang="ko-KR" altLang="ko-KR" dirty="0" err="1"/>
              <a:t>Decoder</a:t>
            </a:r>
            <a:r>
              <a:rPr lang="ko-KR" altLang="ko-KR" dirty="0"/>
              <a:t>, </a:t>
            </a:r>
            <a:r>
              <a:rPr lang="ko-KR" altLang="ko-KR" dirty="0" err="1"/>
              <a:t>Encoder</a:t>
            </a:r>
            <a:r>
              <a:rPr lang="en-US" altLang="ko-KR" dirty="0"/>
              <a:t> </a:t>
            </a:r>
            <a:r>
              <a:rPr lang="ko-KR" altLang="en-US" dirty="0"/>
              <a:t>등등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796D2D-97E2-83E2-E73B-E21C7DA22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643" y="2827354"/>
            <a:ext cx="2525100" cy="30103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1BA8DF-2577-3F41-F31B-800ACEB1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97" y="2801935"/>
            <a:ext cx="1810003" cy="30357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09549F0-762A-C868-6144-8C49A3CC6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363" y="2801935"/>
            <a:ext cx="1861729" cy="30357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E7A9E3-425E-9CBB-B2C3-A13F7D429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455" y="2801935"/>
            <a:ext cx="2010056" cy="30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0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ADFA8-358D-3D88-1A38-E886E6B6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MUX 2x1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E2E1FD6-F6CB-20FB-FF61-1691C9495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0433"/>
            <a:ext cx="2381582" cy="40087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08F54C-B8DD-DF23-6D02-732928C11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806" y="1880433"/>
            <a:ext cx="1390844" cy="4008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CD475-2523-8893-DBA2-B95CBECB3437}"/>
              </a:ext>
            </a:extLst>
          </p:cNvPr>
          <p:cNvSpPr txBox="1"/>
          <p:nvPr/>
        </p:nvSpPr>
        <p:spPr>
          <a:xfrm>
            <a:off x="1545772" y="6078916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                             </a:t>
            </a:r>
            <a:r>
              <a:rPr lang="en-US" altLang="ko-KR" dirty="0"/>
              <a:t>TB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CCF6DC-0FA0-D676-86DC-73B84CB0F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57" y="1880433"/>
            <a:ext cx="5910943" cy="20384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933A62-3B45-286B-541C-51C1E78FB22A}"/>
              </a:ext>
            </a:extLst>
          </p:cNvPr>
          <p:cNvSpPr txBox="1"/>
          <p:nvPr/>
        </p:nvSpPr>
        <p:spPr>
          <a:xfrm>
            <a:off x="5693229" y="4474029"/>
            <a:ext cx="38827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assign </a:t>
            </a:r>
            <a:r>
              <a:rPr lang="en-US" altLang="ko-KR" dirty="0" err="1"/>
              <a:t>o_y</a:t>
            </a:r>
            <a:r>
              <a:rPr lang="en-US" altLang="ko-KR" dirty="0"/>
              <a:t> = (</a:t>
            </a:r>
            <a:r>
              <a:rPr lang="en-US" altLang="ko-KR" dirty="0" err="1"/>
              <a:t>i_sel</a:t>
            </a:r>
            <a:r>
              <a:rPr lang="en-US" altLang="ko-KR" dirty="0"/>
              <a:t>) ? </a:t>
            </a:r>
            <a:r>
              <a:rPr lang="en-US" altLang="ko-KR" dirty="0" err="1"/>
              <a:t>i_b</a:t>
            </a:r>
            <a:r>
              <a:rPr lang="en-US" altLang="ko-KR" dirty="0"/>
              <a:t> : </a:t>
            </a:r>
            <a:r>
              <a:rPr lang="en-US" altLang="ko-KR" dirty="0" err="1"/>
              <a:t>i_a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ko-KR" altLang="en-US" sz="1200" b="1" dirty="0"/>
              <a:t>논리회로  </a:t>
            </a:r>
            <a:r>
              <a:rPr lang="ko-KR" altLang="en-US" sz="1200" dirty="0"/>
              <a:t>                </a:t>
            </a:r>
            <a:r>
              <a:rPr lang="en-US" altLang="ko-KR" sz="1200" b="1" dirty="0"/>
              <a:t>Verilog</a:t>
            </a:r>
          </a:p>
          <a:p>
            <a:r>
              <a:rPr lang="en-US" altLang="ko-KR" sz="1200" dirty="0"/>
              <a:t>Select = 0 -&gt; A         </a:t>
            </a:r>
          </a:p>
          <a:p>
            <a:r>
              <a:rPr lang="en-US" altLang="ko-KR" sz="1200" dirty="0"/>
              <a:t>                              assign </a:t>
            </a:r>
            <a:r>
              <a:rPr lang="en-US" altLang="ko-KR" sz="1200" dirty="0" err="1"/>
              <a:t>o_y</a:t>
            </a:r>
            <a:r>
              <a:rPr lang="en-US" altLang="ko-KR" sz="1200" dirty="0"/>
              <a:t> = (</a:t>
            </a:r>
            <a:r>
              <a:rPr lang="en-US" altLang="ko-KR" sz="1200" dirty="0" err="1"/>
              <a:t>i_sel</a:t>
            </a:r>
            <a:r>
              <a:rPr lang="en-US" altLang="ko-KR" sz="1200" dirty="0"/>
              <a:t>) ? </a:t>
            </a:r>
            <a:r>
              <a:rPr lang="en-US" altLang="ko-KR" sz="1200" dirty="0" err="1"/>
              <a:t>i_b</a:t>
            </a:r>
            <a:r>
              <a:rPr lang="en-US" altLang="ko-KR" sz="1200" dirty="0"/>
              <a:t> : </a:t>
            </a:r>
            <a:r>
              <a:rPr lang="en-US" altLang="ko-KR" sz="1200" dirty="0" err="1"/>
              <a:t>i_a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Select = 1 -&gt; B</a:t>
            </a:r>
          </a:p>
        </p:txBody>
      </p:sp>
    </p:spTree>
    <p:extLst>
      <p:ext uri="{BB962C8B-B14F-4D97-AF65-F5344CB8AC3E}">
        <p14:creationId xmlns:p14="http://schemas.microsoft.com/office/powerpoint/2010/main" val="151642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58288-12A4-EE20-8D97-716C48F7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MUX_2x1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0943A6E-C784-A1D4-98FB-452A5AB0E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ko-KR" dirty="0" err="1"/>
              <a:t>Select</a:t>
            </a:r>
            <a:r>
              <a:rPr lang="ko-KR" altLang="ko-KR" dirty="0"/>
              <a:t> 신호가 0인 구간에서는 출력 </a:t>
            </a:r>
            <a:r>
              <a:rPr lang="ko-KR" altLang="ko-KR" dirty="0" err="1"/>
              <a:t>o_y가</a:t>
            </a:r>
            <a:r>
              <a:rPr lang="ko-KR" altLang="ko-KR" dirty="0"/>
              <a:t> 입력 </a:t>
            </a:r>
            <a:r>
              <a:rPr lang="ko-KR" altLang="ko-KR" dirty="0" err="1"/>
              <a:t>i_a를</a:t>
            </a:r>
            <a:r>
              <a:rPr lang="ko-KR" altLang="ko-KR" dirty="0"/>
              <a:t> 따라가고, </a:t>
            </a:r>
            <a:r>
              <a:rPr lang="ko-KR" altLang="ko-KR" dirty="0" err="1"/>
              <a:t>Select</a:t>
            </a:r>
            <a:r>
              <a:rPr lang="ko-KR" altLang="ko-KR" dirty="0"/>
              <a:t> 신호가 1로 변경된 이후에는 출력 </a:t>
            </a:r>
            <a:r>
              <a:rPr lang="ko-KR" altLang="ko-KR" dirty="0" err="1"/>
              <a:t>o_y가</a:t>
            </a:r>
            <a:r>
              <a:rPr lang="ko-KR" altLang="ko-KR" dirty="0"/>
              <a:t> 입력 </a:t>
            </a:r>
            <a:r>
              <a:rPr lang="ko-KR" altLang="ko-KR" dirty="0" err="1"/>
              <a:t>i_b를</a:t>
            </a:r>
            <a:r>
              <a:rPr lang="ko-KR" altLang="ko-KR" dirty="0"/>
              <a:t> 따라가는 것을 확인</a:t>
            </a:r>
            <a:endParaRPr lang="en-US" altLang="ko-KR" dirty="0"/>
          </a:p>
          <a:p>
            <a:r>
              <a:rPr lang="ko-KR" altLang="ko-KR" dirty="0"/>
              <a:t>이를 통해 </a:t>
            </a:r>
            <a:r>
              <a:rPr lang="ko-KR" altLang="ko-KR" dirty="0" err="1"/>
              <a:t>Select</a:t>
            </a:r>
            <a:r>
              <a:rPr lang="ko-KR" altLang="ko-KR" dirty="0"/>
              <a:t> 신호에 따라 하나의 입력이 선택되어 출력되는 </a:t>
            </a:r>
            <a:r>
              <a:rPr lang="ko-KR" altLang="ko-KR" dirty="0" err="1"/>
              <a:t>MUX의</a:t>
            </a:r>
            <a:r>
              <a:rPr lang="ko-KR" altLang="ko-KR" dirty="0"/>
              <a:t> 동작을 검증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D0E7F9-0DD1-1D2A-4F16-7B808F6A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738012"/>
            <a:ext cx="1000397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464E3-DFB6-CD54-4C0C-6EEEC287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순차논리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E9DA5-4C59-C7E1-A18F-091D7B8D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종류 </a:t>
            </a:r>
            <a:r>
              <a:rPr lang="en-US" altLang="ko-KR" dirty="0"/>
              <a:t>: </a:t>
            </a:r>
            <a:r>
              <a:rPr lang="en-US" altLang="ko-KR" dirty="0" err="1"/>
              <a:t>D_latch</a:t>
            </a:r>
            <a:r>
              <a:rPr lang="en-US" altLang="ko-KR" dirty="0"/>
              <a:t> , </a:t>
            </a:r>
            <a:r>
              <a:rPr lang="en-US" altLang="ko-KR" dirty="0" err="1"/>
              <a:t>D_flip_flop</a:t>
            </a:r>
            <a:r>
              <a:rPr lang="en-US" altLang="ko-KR" dirty="0"/>
              <a:t> , Register , Counter </a:t>
            </a:r>
            <a:r>
              <a:rPr lang="ko-KR" altLang="en-US" dirty="0"/>
              <a:t>등등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2F4BEA-011D-5028-ED72-01B86027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9" y="2449779"/>
            <a:ext cx="1762371" cy="3482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B0DACD-64A3-9AC9-8B8A-BEB50194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525" y="2449779"/>
            <a:ext cx="1762371" cy="34829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045FE4-9544-8520-1CC3-5C96F28D0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279" y="2449779"/>
            <a:ext cx="2857899" cy="34829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E5FE54-C68E-F5B7-9169-118E8C469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491" y="2449780"/>
            <a:ext cx="1914792" cy="34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1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520E-8574-BD52-5023-09267C94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순차논리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B45BA-7967-1ACB-714E-8204E335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282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왜 저장기능이 필요한가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ko-KR" sz="1800" dirty="0"/>
              <a:t>조합논리회로는 현재 입력만으로 출력이 결정되기 때문에 이전의 값이나 상태를 기억할 수 없다. 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ko-KR" sz="1800" dirty="0"/>
              <a:t>반면 실제 디지털 시스템에서는 이전 연산 결과나 현재 상태를 유지하고, 이를 다음 동작에 사용해야 한다. 따라서 순차논리회로에서는 데이터를 기억하기 위한 저장 기능이 필요하다</a:t>
            </a:r>
            <a:r>
              <a:rPr lang="ko-KR" altLang="ko-KR" dirty="0"/>
              <a:t>.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저장은 어떻게 되는가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ko-KR" sz="1600" dirty="0"/>
              <a:t>순차논리회로의 저장 기능은 출력의 일부를 다시 입력으로 되돌리는 </a:t>
            </a:r>
            <a:r>
              <a:rPr lang="ko-KR" altLang="ko-KR" sz="1600" dirty="0" err="1"/>
              <a:t>Feedback</a:t>
            </a:r>
            <a:r>
              <a:rPr lang="ko-KR" altLang="ko-KR" sz="1600" dirty="0"/>
              <a:t> 구조에서 시작된다. 대표적으로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ko-KR" sz="1600" dirty="0"/>
              <a:t> SR </a:t>
            </a:r>
            <a:r>
              <a:rPr lang="ko-KR" altLang="ko-KR" sz="1600" dirty="0" err="1"/>
              <a:t>Latch는</a:t>
            </a:r>
            <a:r>
              <a:rPr lang="ko-KR" altLang="ko-KR" sz="1600" dirty="0"/>
              <a:t> 두 논리 게이트의 출력을 서로의 입력으로 연결하여, 외부 입력이 변한 이후에도 이전 출력 상태가 회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ko-KR" sz="1600" dirty="0"/>
              <a:t>로 내부에서 계속 유지될 수 있도록 한다. 이러한 원리를 기반으로 </a:t>
            </a:r>
            <a:r>
              <a:rPr lang="ko-KR" altLang="ko-KR" sz="1600" dirty="0" err="1"/>
              <a:t>Latch와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Flip-Flop이</a:t>
            </a:r>
            <a:r>
              <a:rPr lang="ko-KR" altLang="ko-KR" sz="1600" dirty="0"/>
              <a:t> 1bit의 정보를 저장하며, 여러 </a:t>
            </a:r>
            <a:r>
              <a:rPr lang="ko-KR" altLang="ko-KR" sz="1600" dirty="0" err="1"/>
              <a:t>Flip-Flop을</a:t>
            </a:r>
            <a:r>
              <a:rPr lang="ko-KR" altLang="ko-KR" sz="1600" dirty="0"/>
              <a:t> 병렬로 구성하면 여러 </a:t>
            </a:r>
            <a:r>
              <a:rPr lang="ko-KR" altLang="ko-KR" sz="1600" dirty="0" err="1"/>
              <a:t>bit의</a:t>
            </a:r>
            <a:r>
              <a:rPr lang="ko-KR" altLang="ko-KR" sz="1600" dirty="0"/>
              <a:t> 데이터를 저장하는 </a:t>
            </a:r>
            <a:r>
              <a:rPr lang="ko-KR" altLang="ko-KR" sz="1600" dirty="0" err="1"/>
              <a:t>Register를</a:t>
            </a:r>
            <a:r>
              <a:rPr lang="ko-KR" altLang="ko-KR" sz="1600" dirty="0"/>
              <a:t> 만들 수 있다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18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C2CA6-07AA-4DED-799E-63D73938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Feedback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01C697-15D5-C818-A167-2E0D4DE74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90688"/>
            <a:ext cx="10287000" cy="488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9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919E5-FA65-0A7B-DDA5-0521C1EB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Register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E9B58C3-0287-D47B-7B02-AD7CC8105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857899" cy="44488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1B220A-8287-9497-8C3D-DB0472AE1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32" y="1690687"/>
            <a:ext cx="4870410" cy="44488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978006-5DF4-3BB8-8907-4F31D131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633" y="1687532"/>
            <a:ext cx="2775309" cy="44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0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E6205-B62C-9CED-FFAC-DEC2FF95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Register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1FFE0EA-519E-6FED-AF42-E2608ADF3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1456"/>
            <a:ext cx="10515600" cy="1932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70E8C-60BB-A2D7-7873-E22CA91F8338}"/>
              </a:ext>
            </a:extLst>
          </p:cNvPr>
          <p:cNvSpPr txBox="1"/>
          <p:nvPr/>
        </p:nvSpPr>
        <p:spPr>
          <a:xfrm>
            <a:off x="1055913" y="4744358"/>
            <a:ext cx="10014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 err="1"/>
              <a:t>i_d</a:t>
            </a:r>
            <a:r>
              <a:rPr lang="ko-KR" altLang="en-US" dirty="0"/>
              <a:t>가 변경 되더라도 출력 </a:t>
            </a:r>
            <a:r>
              <a:rPr lang="en-US" altLang="ko-KR" dirty="0" err="1"/>
              <a:t>o_q</a:t>
            </a:r>
            <a:r>
              <a:rPr lang="ko-KR" altLang="en-US" dirty="0"/>
              <a:t>가 즉시 변경 되지 않음을 확인</a:t>
            </a:r>
            <a:endParaRPr lang="en-US" altLang="ko-KR" dirty="0"/>
          </a:p>
          <a:p>
            <a:r>
              <a:rPr lang="en-US" altLang="ko-KR" dirty="0"/>
              <a:t>Clock</a:t>
            </a:r>
            <a:r>
              <a:rPr lang="ko-KR" altLang="en-US" dirty="0"/>
              <a:t>이 </a:t>
            </a:r>
            <a:r>
              <a:rPr lang="ko-KR" altLang="en-US" dirty="0" err="1"/>
              <a:t>상승엣지</a:t>
            </a:r>
            <a:r>
              <a:rPr lang="ko-KR" altLang="en-US" dirty="0"/>
              <a:t>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에 저장되고</a:t>
            </a:r>
            <a:r>
              <a:rPr lang="en-US" altLang="ko-KR" dirty="0"/>
              <a:t>, </a:t>
            </a:r>
            <a:r>
              <a:rPr lang="ko-KR" altLang="en-US" dirty="0"/>
              <a:t>저장된 값은 다음 </a:t>
            </a:r>
            <a:r>
              <a:rPr lang="en-US" altLang="ko-KR" dirty="0"/>
              <a:t>Clock</a:t>
            </a:r>
            <a:r>
              <a:rPr lang="ko-KR" altLang="en-US" dirty="0"/>
              <a:t> </a:t>
            </a:r>
            <a:r>
              <a:rPr lang="ko-KR" altLang="en-US" dirty="0" err="1"/>
              <a:t>상승엣지</a:t>
            </a:r>
            <a:r>
              <a:rPr lang="ko-KR" altLang="en-US" dirty="0"/>
              <a:t> 일때까지 유지됨을 확인할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52042203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FSM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기본원리</a:t>
            </a:r>
            <a:r>
              <a:rPr lang="en-US" altLang="ko-KR"/>
              <a:t>: </a:t>
            </a:r>
            <a:r>
              <a:rPr lang="ko-KR" altLang="en-US"/>
              <a:t>시스템이 가질 수 있는 상태를 정의하고 현재 상태와 입력에 따라 다음 상태로 전이하면서 동작하는 순차논리 모델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즉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ko-KR"/>
              <a:t>지금 어떤 상태이고, 어떤 입력이 들어왔는지를 보고 다음에 어디로 갈지 결정하는 회로</a:t>
            </a:r>
            <a:endParaRPr lang="ko-KR" altLang="ko-KR"/>
          </a:p>
          <a:p>
            <a:pPr lvl="0"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Next State = f(Present State, Input)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FSM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4435" y="1690688"/>
            <a:ext cx="5331415" cy="4138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6033" y="1912776"/>
            <a:ext cx="392767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조합 논리가 다음 상태를 계산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Clock</a:t>
            </a:r>
            <a:r>
              <a:rPr lang="ko-KR" altLang="en-US"/>
              <a:t> 상승 일때 </a:t>
            </a:r>
            <a:r>
              <a:rPr lang="en-US" altLang="ko-KR"/>
              <a:t>state </a:t>
            </a:r>
            <a:r>
              <a:rPr lang="ko-KR" altLang="en-US"/>
              <a:t>저장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조합</a:t>
            </a:r>
            <a:r>
              <a:rPr lang="en-US" altLang="ko-KR"/>
              <a:t>,</a:t>
            </a:r>
            <a:r>
              <a:rPr lang="ko-KR" altLang="en-US"/>
              <a:t>순차 논리가 동시에 들어감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                  3-state FSM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014115" y="1799881"/>
            <a:ext cx="2989761" cy="4377081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97695" y="1797595"/>
            <a:ext cx="2571090" cy="4367926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6997388" y="1805455"/>
            <a:ext cx="3086798" cy="77155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500"/>
              <a:t>FSM = State Register(순차논리) +          </a:t>
            </a:r>
            <a:endParaRPr lang="ko-KR" altLang="en-US" sz="1500"/>
          </a:p>
          <a:p>
            <a:pPr>
              <a:defRPr/>
            </a:pPr>
            <a:r>
              <a:rPr lang="ko-KR" altLang="en-US" sz="1500"/>
              <a:t>      Next-State Logic(조합논리) +  </a:t>
            </a:r>
            <a:endParaRPr lang="ko-KR" altLang="en-US" sz="1500"/>
          </a:p>
          <a:p>
            <a:pPr>
              <a:defRPr/>
            </a:pPr>
            <a:r>
              <a:rPr lang="ko-KR" altLang="en-US" sz="1500"/>
              <a:t>          Output Logic(조합논리)</a:t>
            </a:r>
            <a:endParaRPr lang="ko-KR" altLang="en-US" sz="1500"/>
          </a:p>
        </p:txBody>
      </p:sp>
      <p:sp>
        <p:nvSpPr>
          <p:cNvPr id="6" name=""/>
          <p:cNvSpPr txBox="1"/>
          <p:nvPr/>
        </p:nvSpPr>
        <p:spPr>
          <a:xfrm>
            <a:off x="6830054" y="4270744"/>
            <a:ext cx="4077654" cy="187097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900"/>
              <a:t>조합논리와 순차논리를 각각 학습한 후, 두 구조가 실제 설계에서 어떻게 결합되는지 확인하기 위해 3-State FSM을 구현 FSM은 IDLE, RUN, DONE 세 가지 상태로 구성</a:t>
            </a:r>
            <a:endParaRPr lang="en-US" altLang="ko-KR" sz="900"/>
          </a:p>
          <a:p>
            <a:pPr>
              <a:defRPr/>
            </a:pPr>
            <a:endParaRPr lang="en-US" altLang="ko-KR" sz="900"/>
          </a:p>
          <a:p>
            <a:pPr>
              <a:defRPr/>
            </a:pPr>
            <a:r>
              <a:rPr lang="en-US" altLang="ko-KR" sz="900" b="1"/>
              <a:t>첫 번째</a:t>
            </a:r>
            <a:r>
              <a:rPr lang="en-US" altLang="ko-KR" sz="900"/>
              <a:t> State Register는 순차논리로, Reset</a:t>
            </a:r>
            <a:r>
              <a:rPr lang="ko-KR" altLang="en-US" sz="900"/>
              <a:t>이 들어오면 </a:t>
            </a:r>
            <a:r>
              <a:rPr lang="en-US" altLang="ko-KR" sz="900"/>
              <a:t>IDLE</a:t>
            </a:r>
            <a:r>
              <a:rPr lang="ko-KR" altLang="en-US" sz="900"/>
              <a:t> 상태로 초기화 되고</a:t>
            </a:r>
            <a:r>
              <a:rPr lang="en-US" altLang="ko-KR" sz="900"/>
              <a:t>,</a:t>
            </a:r>
            <a:r>
              <a:rPr lang="ko-KR" altLang="en-US" sz="900"/>
              <a:t> 이후 </a:t>
            </a:r>
            <a:r>
              <a:rPr lang="en-US" altLang="ko-KR" sz="900"/>
              <a:t>Clock의 상승 에지에서 다음 상태를 현재 상태로 저장</a:t>
            </a:r>
            <a:endParaRPr lang="en-US" altLang="ko-KR" sz="900"/>
          </a:p>
          <a:p>
            <a:pPr>
              <a:defRPr/>
            </a:pPr>
            <a:r>
              <a:rPr lang="en-US" altLang="ko-KR" sz="900" b="1"/>
              <a:t>두 번째</a:t>
            </a:r>
            <a:r>
              <a:rPr lang="en-US" altLang="ko-KR" sz="900"/>
              <a:t> Next-State Logic은 조합논리로 현재 상태와 입력을 이용하여 다음 상태를 결정</a:t>
            </a:r>
            <a:endParaRPr lang="en-US" altLang="ko-KR" sz="900"/>
          </a:p>
          <a:p>
            <a:pPr>
              <a:defRPr/>
            </a:pPr>
            <a:r>
              <a:rPr lang="en-US" altLang="ko-KR" sz="900" b="1"/>
              <a:t>마지막</a:t>
            </a:r>
            <a:r>
              <a:rPr lang="en-US" altLang="ko-KR" sz="900"/>
              <a:t> Output Logic 역시 조합논리로 현재 상태에 따라 ready와 done 출력을 결</a:t>
            </a:r>
            <a:r>
              <a:rPr lang="ko-KR" altLang="en-US" sz="900"/>
              <a:t>정</a:t>
            </a:r>
            <a:endParaRPr lang="ko-KR" altLang="en-US" sz="900"/>
          </a:p>
          <a:p>
            <a:pPr>
              <a:defRPr/>
            </a:pPr>
            <a:endParaRPr lang="en-US" altLang="ko-KR" sz="900"/>
          </a:p>
          <a:p>
            <a:pPr>
              <a:defRPr/>
            </a:pPr>
            <a:r>
              <a:rPr lang="en-US" altLang="ko-KR" sz="900"/>
              <a:t>따라서 FSM을 구현하면서 조합논리가 다음 동작을 결정하고, 순차논리가 현재 상태를 저장하는 방식으로 두 논리회로가 결합</a:t>
            </a:r>
            <a:r>
              <a:rPr lang="ko-KR" altLang="en-US" sz="900"/>
              <a:t>됨</a:t>
            </a:r>
            <a:endParaRPr lang="ko-KR" altLang="en-US" sz="900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37138" y="2612938"/>
            <a:ext cx="3768855" cy="1632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  <a:defRPr/>
            </a:pPr>
            <a:endParaRPr lang="ko-KR" altLang="en-US"/>
          </a:p>
          <a:p>
            <a:pPr marL="0" indent="0" algn="ctr">
              <a:buNone/>
              <a:defRPr/>
            </a:pPr>
            <a:endParaRPr lang="ko-KR" altLang="en-US"/>
          </a:p>
          <a:p>
            <a:pPr marL="0" indent="0" algn="ctr">
              <a:buNone/>
              <a:defRPr/>
            </a:pPr>
            <a:r>
              <a:rPr lang="ko-KR" altLang="en-US" sz="4700"/>
              <a:t>감사합니다</a:t>
            </a:r>
            <a:endParaRPr lang="ko-KR" altLang="en-US" sz="4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431</ep:Words>
  <ep:PresentationFormat>와이드스크린</ep:PresentationFormat>
  <ep:Paragraphs>60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테마</vt:lpstr>
      <vt:lpstr>방학 과제</vt:lpstr>
      <vt:lpstr>Study plan &amp; 이번 학습 범위</vt:lpstr>
      <vt:lpstr>조합 논리 vs 순차논리</vt:lpstr>
      <vt:lpstr>조합 논리</vt:lpstr>
      <vt:lpstr>MUX 2x1</vt:lpstr>
      <vt:lpstr>MUX_2x1</vt:lpstr>
      <vt:lpstr>순차논리</vt:lpstr>
      <vt:lpstr>순차논리</vt:lpstr>
      <vt:lpstr>Feedback</vt:lpstr>
      <vt:lpstr>Register</vt:lpstr>
      <vt:lpstr>Register</vt:lpstr>
      <vt:lpstr>FSM</vt:lpstr>
      <vt:lpstr>FSM</vt:lpstr>
      <vt:lpstr>3-state FSM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2026-08-17T14:06:23.000</dcterms:created>
  <dc:creator>환식 김</dc:creator>
  <cp:lastModifiedBy>user</cp:lastModifiedBy>
  <dcterms:modified xsi:type="dcterms:W3CDTF">2026-08-18T00:58:05.893</dcterms:modified>
  <cp:revision>18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